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  <p:sldId id="259" r:id="rId6"/>
    <p:sldId id="260" r:id="rId7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11"/>
    <p:restoredTop sz="94703"/>
  </p:normalViewPr>
  <p:slideViewPr>
    <p:cSldViewPr snapToGrid="0">
      <p:cViewPr>
        <p:scale>
          <a:sx n="50" d="100"/>
          <a:sy n="50" d="100"/>
        </p:scale>
        <p:origin x="1132" y="-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25/01/2026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xmlns="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xmlns="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i="1" dirty="0">
                  <a:solidFill>
                    <a:schemeClr val="tx1"/>
                  </a:solidFill>
                </a:rPr>
                <a:t>Este estudio busca clasificar a los pacientes según su perfil de expresión génica y estado metabólico mediante técnicas de reducción dimensional. Esta metodología permite identificar biomarcadores asociados al riesgo de metástasis, facilitando el desarrollo de estrategias diagnósticas personalizadas que optimicen el manejo clínico y la estratificación de la población.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xmlns="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xmlns="" id="{88FB225B-2F62-B172-D75B-E02EF3836A0E}"/>
              </a:ext>
            </a:extLst>
          </p:cNvPr>
          <p:cNvGrpSpPr/>
          <p:nvPr/>
        </p:nvGrpSpPr>
        <p:grpSpPr>
          <a:xfrm>
            <a:off x="207595" y="5300430"/>
            <a:ext cx="14668990" cy="1667244"/>
            <a:chOff x="207596" y="6110487"/>
            <a:chExt cx="14668990" cy="1997723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xmlns="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8120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i="1" dirty="0">
                  <a:solidFill>
                    <a:schemeClr val="tx1"/>
                  </a:solidFill>
                </a:rPr>
                <a:t>Se analizó expresión de 37 genes en 59 pacientes mediante análisis de componentes principales (PCA) con escalado, obteniendo 6 componentes para reducción dimensional. Se evaluó normalidad con Shapiro-Wilk, se realizó </a:t>
              </a:r>
              <a:r>
                <a:rPr lang="es-ES" i="1" dirty="0" err="1">
                  <a:solidFill>
                    <a:schemeClr val="tx1"/>
                  </a:solidFill>
                </a:rPr>
                <a:t>clustering</a:t>
              </a:r>
              <a:r>
                <a:rPr lang="es-ES" i="1" dirty="0">
                  <a:solidFill>
                    <a:schemeClr val="tx1"/>
                  </a:solidFill>
                </a:rPr>
                <a:t> (k=3) y </a:t>
              </a:r>
              <a:r>
                <a:rPr lang="es-ES" i="1" dirty="0" err="1">
                  <a:solidFill>
                    <a:schemeClr val="tx1"/>
                  </a:solidFill>
                </a:rPr>
                <a:t>heatmaps</a:t>
              </a:r>
              <a:r>
                <a:rPr lang="es-ES" i="1" dirty="0">
                  <a:solidFill>
                    <a:schemeClr val="tx1"/>
                  </a:solidFill>
                </a:rPr>
                <a:t> de correlación. El análisis incluyó estadística descriptiva estratificada por </a:t>
              </a:r>
              <a:r>
                <a:rPr lang="es-ES" i="1" dirty="0" err="1">
                  <a:solidFill>
                    <a:schemeClr val="tx1"/>
                  </a:solidFill>
                </a:rPr>
                <a:t>terciles</a:t>
              </a:r>
              <a:r>
                <a:rPr lang="es-ES" i="1" dirty="0">
                  <a:solidFill>
                    <a:schemeClr val="tx1"/>
                  </a:solidFill>
                </a:rPr>
                <a:t> de componentes y regresión logística ajustada para predecir metástasis, ejecutado en R con paquetes especializados.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xmlns="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xmlns="" id="{0449220D-F047-A208-80A5-ECB282B1A62A}"/>
              </a:ext>
            </a:extLst>
          </p:cNvPr>
          <p:cNvGrpSpPr/>
          <p:nvPr/>
        </p:nvGrpSpPr>
        <p:grpSpPr>
          <a:xfrm>
            <a:off x="207596" y="7336997"/>
            <a:ext cx="14668990" cy="93508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xmlns="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xmlns="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xmlns="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xmlns="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xmlns="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xmlns="" id="{70138B42-E335-E05D-E193-37141538289E}"/>
              </a:ext>
            </a:extLst>
          </p:cNvPr>
          <p:cNvSpPr/>
          <p:nvPr/>
        </p:nvSpPr>
        <p:spPr>
          <a:xfrm>
            <a:off x="677954" y="1198761"/>
            <a:ext cx="13763441" cy="2243926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" sz="3200" b="1" dirty="0">
                <a:solidFill>
                  <a:schemeClr val="bg1"/>
                </a:solidFill>
              </a:rPr>
              <a:t>Proyecto Transversal en R (I): Análisis de bioestadística aplicada a la expresión génica en Los Simpson</a:t>
            </a:r>
            <a:endParaRPr lang="es-ES_tradnl" sz="36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" sz="2400" b="1" i="1" dirty="0">
                <a:solidFill>
                  <a:schemeClr val="bg1"/>
                </a:solidFill>
              </a:rPr>
              <a:t>Estadística y R para Ciencias de la Salud</a:t>
            </a:r>
            <a:endParaRPr lang="es-ES_tradnl" sz="32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b="1" i="1" dirty="0">
                <a:solidFill>
                  <a:schemeClr val="bg1"/>
                </a:solidFill>
              </a:rPr>
              <a:t>Paula Sánchez Álvarez, Lidia Conde Matos, Lucía Martínez Garrido, Marina </a:t>
            </a:r>
            <a:r>
              <a:rPr lang="es-ES_tradnl" b="1" i="1" dirty="0" err="1">
                <a:solidFill>
                  <a:schemeClr val="bg1"/>
                </a:solidFill>
              </a:rPr>
              <a:t>Monzo</a:t>
            </a:r>
            <a:r>
              <a:rPr lang="es-ES_tradnl" b="1" i="1" dirty="0">
                <a:solidFill>
                  <a:schemeClr val="bg1"/>
                </a:solidFill>
              </a:rPr>
              <a:t> Gallego, </a:t>
            </a:r>
            <a:r>
              <a:rPr lang="es-ES_tradnl" b="1" i="1" dirty="0" err="1">
                <a:solidFill>
                  <a:schemeClr val="bg1"/>
                </a:solidFill>
              </a:rPr>
              <a:t>Maria</a:t>
            </a:r>
            <a:r>
              <a:rPr lang="es-ES_tradnl" b="1" i="1" dirty="0">
                <a:solidFill>
                  <a:schemeClr val="bg1"/>
                </a:solidFill>
              </a:rPr>
              <a:t> Elena Martínez Garrido, Miguel Grande </a:t>
            </a:r>
            <a:r>
              <a:rPr lang="es-ES_tradnl" b="1" i="1" dirty="0" err="1">
                <a:solidFill>
                  <a:schemeClr val="bg1"/>
                </a:solidFill>
              </a:rPr>
              <a:t>Falceto</a:t>
            </a:r>
            <a:r>
              <a:rPr lang="es-ES_tradnl" b="1" i="1" dirty="0">
                <a:solidFill>
                  <a:schemeClr val="bg1"/>
                </a:solidFill>
              </a:rPr>
              <a:t>, Nuria Fernández Pérez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xmlns="" id="{2C6C9477-586D-D4FB-ADEE-063D77B3A812}"/>
              </a:ext>
            </a:extLst>
          </p:cNvPr>
          <p:cNvGrpSpPr/>
          <p:nvPr/>
        </p:nvGrpSpPr>
        <p:grpSpPr>
          <a:xfrm>
            <a:off x="225180" y="16885602"/>
            <a:ext cx="9095801" cy="4262829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xmlns="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i="1" dirty="0" smtClean="0">
                  <a:solidFill>
                    <a:schemeClr val="tx1"/>
                  </a:solidFill>
                </a:rPr>
                <a:t>La arquitectura </a:t>
              </a:r>
              <a:r>
                <a:rPr lang="es-ES" i="1" dirty="0">
                  <a:solidFill>
                    <a:schemeClr val="tx1"/>
                  </a:solidFill>
                </a:rPr>
                <a:t>genética de la muestra es altamente compleja y no depende de un solo gen, sino de redes biológicas coordinadas, principalmente el Eje </a:t>
              </a:r>
              <a:r>
                <a:rPr lang="es-ES" i="1" dirty="0" err="1">
                  <a:solidFill>
                    <a:schemeClr val="tx1"/>
                  </a:solidFill>
                </a:rPr>
                <a:t>Leptina-Melanocortina</a:t>
              </a:r>
              <a:r>
                <a:rPr lang="es-ES" i="1" dirty="0">
                  <a:solidFill>
                    <a:schemeClr val="tx1"/>
                  </a:solidFill>
                </a:rPr>
                <a:t> (PC1) y la Plasticidad Neuronal (PC2</a:t>
              </a:r>
              <a:r>
                <a:rPr lang="es-ES" i="1" dirty="0" smtClean="0">
                  <a:solidFill>
                    <a:schemeClr val="tx1"/>
                  </a:solidFill>
                </a:rPr>
                <a:t>). A </a:t>
              </a:r>
              <a:r>
                <a:rPr lang="es-ES" i="1" dirty="0">
                  <a:solidFill>
                    <a:schemeClr val="tx1"/>
                  </a:solidFill>
                </a:rPr>
                <a:t>través del PCA y el </a:t>
              </a:r>
              <a:r>
                <a:rPr lang="es-ES" i="1" dirty="0" err="1">
                  <a:solidFill>
                    <a:schemeClr val="tx1"/>
                  </a:solidFill>
                </a:rPr>
                <a:t>clustering</a:t>
              </a:r>
              <a:r>
                <a:rPr lang="es-ES" i="1" dirty="0">
                  <a:solidFill>
                    <a:schemeClr val="tx1"/>
                  </a:solidFill>
                </a:rPr>
                <a:t>, se identificaron genes críticos como POMC, ADCY3, LEPR y NTRK2 como los principales impulsores de la variabilidad biológica. </a:t>
              </a:r>
              <a:r>
                <a:rPr lang="es-ES" i="1" dirty="0" smtClean="0">
                  <a:solidFill>
                    <a:schemeClr val="tx1"/>
                  </a:solidFill>
                </a:rPr>
                <a:t>Mientras </a:t>
              </a:r>
              <a:r>
                <a:rPr lang="es-ES" i="1" dirty="0">
                  <a:solidFill>
                    <a:schemeClr val="tx1"/>
                  </a:solidFill>
                </a:rPr>
                <a:t>que el PC1 actúa como un marcador de </a:t>
              </a:r>
              <a:r>
                <a:rPr lang="es-ES" i="1" dirty="0" smtClean="0">
                  <a:solidFill>
                    <a:schemeClr val="tx1"/>
                  </a:solidFill>
                </a:rPr>
                <a:t>riesgo donde </a:t>
              </a:r>
              <a:r>
                <a:rPr lang="es-ES" i="1" dirty="0">
                  <a:solidFill>
                    <a:schemeClr val="tx1"/>
                  </a:solidFill>
                </a:rPr>
                <a:t>los individuos con obesidad presentan valores extremos, el PC2 vincula la conectividad neuronal con el IMC. El mapa de calor y el análisis por </a:t>
              </a:r>
              <a:r>
                <a:rPr lang="es-ES" i="1" dirty="0" err="1">
                  <a:solidFill>
                    <a:schemeClr val="tx1"/>
                  </a:solidFill>
                </a:rPr>
                <a:t>terciles</a:t>
              </a:r>
              <a:r>
                <a:rPr lang="es-ES" i="1" dirty="0">
                  <a:solidFill>
                    <a:schemeClr val="tx1"/>
                  </a:solidFill>
                </a:rPr>
                <a:t> </a:t>
              </a:r>
              <a:r>
                <a:rPr lang="es-ES" i="1" dirty="0" smtClean="0">
                  <a:solidFill>
                    <a:schemeClr val="tx1"/>
                  </a:solidFill>
                </a:rPr>
                <a:t>confirman </a:t>
              </a:r>
              <a:r>
                <a:rPr lang="es-ES" i="1" dirty="0">
                  <a:solidFill>
                    <a:schemeClr val="tx1"/>
                  </a:solidFill>
                </a:rPr>
                <a:t>que estas agrupaciones no son aleatorias, </a:t>
              </a:r>
              <a:r>
                <a:rPr lang="es-ES" i="1" dirty="0">
                  <a:solidFill>
                    <a:schemeClr val="tx1"/>
                  </a:solidFill>
                </a:rPr>
                <a:t>sino que responden a patrones de expresión significativamente </a:t>
              </a:r>
              <a:r>
                <a:rPr lang="es-ES" i="1" dirty="0" smtClean="0">
                  <a:solidFill>
                    <a:schemeClr val="tx1"/>
                  </a:solidFill>
                </a:rPr>
                <a:t>distintos. No </a:t>
              </a:r>
              <a:r>
                <a:rPr lang="es-ES" i="1" dirty="0">
                  <a:solidFill>
                    <a:schemeClr val="tx1"/>
                  </a:solidFill>
                </a:rPr>
                <a:t>obstante, la regresión logística no halló una asociación significativa con la obesidad clínica. </a:t>
              </a:r>
              <a:r>
                <a:rPr lang="es-ES" i="1" dirty="0">
                  <a:solidFill>
                    <a:schemeClr val="tx1"/>
                  </a:solidFill>
                </a:rPr>
                <a:t>Esta </a:t>
              </a:r>
              <a:r>
                <a:rPr lang="es-ES" i="1" dirty="0">
                  <a:solidFill>
                    <a:schemeClr val="tx1"/>
                  </a:solidFill>
                </a:rPr>
                <a:t>discrepancia sugiere que, aunque existen perfiles </a:t>
              </a:r>
              <a:r>
                <a:rPr lang="es-ES" i="1" dirty="0" smtClean="0">
                  <a:solidFill>
                    <a:schemeClr val="tx1"/>
                  </a:solidFill>
                </a:rPr>
                <a:t>genéticos diferenciados </a:t>
              </a:r>
              <a:r>
                <a:rPr lang="es-ES" i="1" dirty="0">
                  <a:solidFill>
                    <a:schemeClr val="tx1"/>
                  </a:solidFill>
                </a:rPr>
                <a:t>y vinculados al eje neuroendocrino, el tamaño </a:t>
              </a:r>
              <a:r>
                <a:rPr lang="es-ES" i="1" dirty="0" err="1">
                  <a:solidFill>
                    <a:schemeClr val="tx1"/>
                  </a:solidFill>
                </a:rPr>
                <a:t>muestral</a:t>
              </a:r>
              <a:r>
                <a:rPr lang="es-ES" i="1" dirty="0">
                  <a:solidFill>
                    <a:schemeClr val="tx1"/>
                  </a:solidFill>
                </a:rPr>
                <a:t> limitado y la baja prevalencia de </a:t>
              </a:r>
              <a:r>
                <a:rPr lang="es-ES" i="1" dirty="0" smtClean="0">
                  <a:solidFill>
                    <a:schemeClr val="tx1"/>
                  </a:solidFill>
                </a:rPr>
                <a:t>casos impiden </a:t>
              </a:r>
              <a:r>
                <a:rPr lang="es-ES" i="1" dirty="0">
                  <a:solidFill>
                    <a:schemeClr val="tx1"/>
                  </a:solidFill>
                </a:rPr>
                <a:t>una predicción </a:t>
              </a:r>
              <a:r>
                <a:rPr lang="es-ES" i="1" dirty="0" smtClean="0">
                  <a:solidFill>
                    <a:schemeClr val="tx1"/>
                  </a:solidFill>
                </a:rPr>
                <a:t>robusta, </a:t>
              </a:r>
              <a:r>
                <a:rPr lang="es-ES" i="1" dirty="0">
                  <a:solidFill>
                    <a:schemeClr val="tx1"/>
                  </a:solidFill>
                </a:rPr>
                <a:t>subrayando la necesidad de ampliar el estudio para validar estos </a:t>
              </a:r>
              <a:r>
                <a:rPr lang="es-ES" i="1" dirty="0" err="1">
                  <a:solidFill>
                    <a:schemeClr val="tx1"/>
                  </a:solidFill>
                </a:rPr>
                <a:t>biomarcadores</a:t>
              </a:r>
              <a:r>
                <a:rPr lang="es-ES" i="1" dirty="0">
                  <a:solidFill>
                    <a:schemeClr val="tx1"/>
                  </a:solidFill>
                </a:rPr>
                <a:t>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xmlns="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xmlns="" id="{7CDA7380-1384-C476-FC20-7A4A09E7B7FE}"/>
              </a:ext>
            </a:extLst>
          </p:cNvPr>
          <p:cNvGrpSpPr/>
          <p:nvPr/>
        </p:nvGrpSpPr>
        <p:grpSpPr>
          <a:xfrm>
            <a:off x="9509873" y="16990349"/>
            <a:ext cx="5366712" cy="4158081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xmlns="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Resumen principal de hallazgos y limitaciones del análisis si aplica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xmlns="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xmlns="" id="{05ACB882-C17A-7163-5754-50C1DB29AA22}"/>
              </a:ext>
            </a:extLst>
          </p:cNvPr>
          <p:cNvSpPr/>
          <p:nvPr/>
        </p:nvSpPr>
        <p:spPr>
          <a:xfrm>
            <a:off x="500673" y="8127402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Distribución de individuos en las dos primeras componentes principales (PCA) coloreados por categoría de IMC.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xmlns="" id="{3F03464F-6AD8-145A-F4F0-58880920BB73}"/>
              </a:ext>
            </a:extLst>
          </p:cNvPr>
          <p:cNvSpPr/>
          <p:nvPr/>
        </p:nvSpPr>
        <p:spPr>
          <a:xfrm>
            <a:off x="500673" y="12467799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Clustering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las variables génicas basada en sus coordenadas en el análisis de componentes principales.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xmlns="" id="{A5674FB9-8324-DF2F-A950-34B0495EFB78}"/>
              </a:ext>
            </a:extLst>
          </p:cNvPr>
          <p:cNvSpPr/>
          <p:nvPr/>
        </p:nvSpPr>
        <p:spPr>
          <a:xfrm>
            <a:off x="7688629" y="8127402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3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Heatmap de las correlaciones de Spearman entre las variables génicas y las componentes principales.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xmlns="" id="{8A183F86-D7DD-502A-D747-5A5FBDC12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085" y="8871758"/>
            <a:ext cx="3970783" cy="340352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8A8E1970-B66C-7036-7EB4-94101F925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889" y="9247101"/>
            <a:ext cx="5291234" cy="587914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xmlns="" id="{F63E81AC-6E62-3552-B12E-B7CFBD3B9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1316" y="13183981"/>
            <a:ext cx="3970783" cy="340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3CFC6D78-4336-6694-80D8-E4D16D18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32" y="4000859"/>
            <a:ext cx="6400800" cy="5486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A49C31BE-A109-546F-614D-2A663828D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75" y="3857875"/>
            <a:ext cx="6400800" cy="5486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E9F0C673-0ED0-39C2-3E67-226314319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32" y="9921791"/>
            <a:ext cx="6400800" cy="5486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8C19C126-68B2-C4D8-72A4-5D649CDE2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32" y="9600948"/>
            <a:ext cx="6400800" cy="5486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1CB39942-B5D9-5E96-BAD1-ED75E98C5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11" y="15408191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6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D4177D0B-7FAF-B0E1-A6AE-38A30851A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39" y="8076949"/>
            <a:ext cx="8229600" cy="9144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DDEF7FBA-C52E-7C9A-B15E-84E0D743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11" y="11718507"/>
            <a:ext cx="82296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85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Props1.xml><?xml version="1.0" encoding="utf-8"?>
<ds:datastoreItem xmlns:ds="http://schemas.openxmlformats.org/officeDocument/2006/customXml" ds:itemID="{F0E4AC05-6E48-496A-9B4A-D9E0A4517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A9EA36-75B9-47E0-B3F6-D548E75A2A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FF8D81-72FC-452A-A72A-98522D59D5C9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429</Words>
  <Application>Microsoft Office PowerPoint</Application>
  <PresentationFormat>Personalizado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Elena Martinez Garrido</cp:lastModifiedBy>
  <cp:revision>22</cp:revision>
  <dcterms:created xsi:type="dcterms:W3CDTF">2025-04-21T10:03:24Z</dcterms:created>
  <dcterms:modified xsi:type="dcterms:W3CDTF">2026-01-25T12:57:36Z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