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8" r:id="rId5"/>
    <p:sldId id="259" r:id="rId6"/>
    <p:sldId id="260" r:id="rId7"/>
  </p:sldIdLst>
  <p:sldSz cx="15119350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96C9"/>
    <a:srgbClr val="59C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11"/>
    <p:restoredTop sz="94703"/>
  </p:normalViewPr>
  <p:slideViewPr>
    <p:cSldViewPr snapToGrid="0">
      <p:cViewPr>
        <p:scale>
          <a:sx n="75" d="100"/>
          <a:sy n="75" d="100"/>
        </p:scale>
        <p:origin x="658" y="-1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9784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148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98851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170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32023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92796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42561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4848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77565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3612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07249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3253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4000">
              <a:schemeClr val="bg1"/>
            </a:gs>
            <a:gs pos="99000">
              <a:srgbClr val="59C2E3">
                <a:alpha val="25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A72C3-DD61-5B61-E46F-EDD19D1F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E1AA44F9-4D9B-B58B-32B6-5CC8410E7CBE}"/>
              </a:ext>
            </a:extLst>
          </p:cNvPr>
          <p:cNvGrpSpPr/>
          <p:nvPr/>
        </p:nvGrpSpPr>
        <p:grpSpPr>
          <a:xfrm>
            <a:off x="225180" y="3484254"/>
            <a:ext cx="14668990" cy="1504934"/>
            <a:chOff x="225180" y="3930299"/>
            <a:chExt cx="14668990" cy="1504934"/>
          </a:xfrm>
        </p:grpSpPr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C4D1F524-44A5-F16E-9FD3-EE5EA5819EAD}"/>
                </a:ext>
              </a:extLst>
            </p:cNvPr>
            <p:cNvSpPr/>
            <p:nvPr/>
          </p:nvSpPr>
          <p:spPr>
            <a:xfrm>
              <a:off x="225180" y="4246822"/>
              <a:ext cx="14668990" cy="1188411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" i="1" dirty="0">
                  <a:solidFill>
                    <a:schemeClr val="tx1"/>
                  </a:solidFill>
                </a:rPr>
                <a:t>Este estudio busca clasificar a los pacientes según su perfil de expresión génica y estado metabólico mediante técnicas de reducción dimensional. Esta metodología permite identificar biomarcadores asociados al riesgo de metástasis, facilitando el desarrollo de estrategias diagnósticas personalizadas que optimicen el manejo clínico y la estratificación de la población.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15811AE5-F929-12ED-D44E-9D1519220278}"/>
                </a:ext>
              </a:extLst>
            </p:cNvPr>
            <p:cNvSpPr/>
            <p:nvPr/>
          </p:nvSpPr>
          <p:spPr>
            <a:xfrm>
              <a:off x="518258" y="393029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/>
                <a:t>INTRODUCCIÓN</a:t>
              </a:r>
              <a:endParaRPr lang="es-ES_tradnl" sz="2800" b="1" dirty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88FB225B-2F62-B172-D75B-E02EF3836A0E}"/>
              </a:ext>
            </a:extLst>
          </p:cNvPr>
          <p:cNvGrpSpPr/>
          <p:nvPr/>
        </p:nvGrpSpPr>
        <p:grpSpPr>
          <a:xfrm>
            <a:off x="207595" y="5300430"/>
            <a:ext cx="14668990" cy="1667244"/>
            <a:chOff x="207596" y="6110487"/>
            <a:chExt cx="14668990" cy="1997723"/>
          </a:xfrm>
        </p:grpSpPr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FC179AD0-ED02-975F-E151-1E1C61EAD8F2}"/>
                </a:ext>
              </a:extLst>
            </p:cNvPr>
            <p:cNvSpPr/>
            <p:nvPr/>
          </p:nvSpPr>
          <p:spPr>
            <a:xfrm>
              <a:off x="207596" y="6427010"/>
              <a:ext cx="14668990" cy="168120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" i="1" dirty="0">
                  <a:solidFill>
                    <a:schemeClr val="tx1"/>
                  </a:solidFill>
                </a:rPr>
                <a:t>Se analizó expresión de 37 genes en 59 pacientes mediante análisis de componentes principales (PCA) con escalado, obteniendo 6 componentes para reducción dimensional. Se evaluó normalidad con Shapiro-Wilk, se realizó </a:t>
              </a:r>
              <a:r>
                <a:rPr lang="es-ES" i="1" dirty="0" err="1">
                  <a:solidFill>
                    <a:schemeClr val="tx1"/>
                  </a:solidFill>
                </a:rPr>
                <a:t>clustering</a:t>
              </a:r>
              <a:r>
                <a:rPr lang="es-ES" i="1" dirty="0">
                  <a:solidFill>
                    <a:schemeClr val="tx1"/>
                  </a:solidFill>
                </a:rPr>
                <a:t> (k=3) y </a:t>
              </a:r>
              <a:r>
                <a:rPr lang="es-ES" i="1" dirty="0" err="1">
                  <a:solidFill>
                    <a:schemeClr val="tx1"/>
                  </a:solidFill>
                </a:rPr>
                <a:t>heatmaps</a:t>
              </a:r>
              <a:r>
                <a:rPr lang="es-ES" i="1" dirty="0">
                  <a:solidFill>
                    <a:schemeClr val="tx1"/>
                  </a:solidFill>
                </a:rPr>
                <a:t> de correlación. El análisis incluyó estadística descriptiva estratificada por </a:t>
              </a:r>
              <a:r>
                <a:rPr lang="es-ES" i="1" dirty="0" err="1">
                  <a:solidFill>
                    <a:schemeClr val="tx1"/>
                  </a:solidFill>
                </a:rPr>
                <a:t>terciles</a:t>
              </a:r>
              <a:r>
                <a:rPr lang="es-ES" i="1" dirty="0">
                  <a:solidFill>
                    <a:schemeClr val="tx1"/>
                  </a:solidFill>
                </a:rPr>
                <a:t> de componentes y regresión logística ajustada para predecir metástasis, ejecutado en R con paquetes especializados.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15" name="Rectángulo redondeado 14">
              <a:extLst>
                <a:ext uri="{FF2B5EF4-FFF2-40B4-BE49-F238E27FC236}">
                  <a16:creationId xmlns:a16="http://schemas.microsoft.com/office/drawing/2014/main" id="{51C45BDA-AC75-EE13-A211-698BB3CF2EDC}"/>
                </a:ext>
              </a:extLst>
            </p:cNvPr>
            <p:cNvSpPr/>
            <p:nvPr/>
          </p:nvSpPr>
          <p:spPr>
            <a:xfrm>
              <a:off x="500674" y="6110487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METODOLOGÍA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449220D-F047-A208-80A5-ECB282B1A62A}"/>
              </a:ext>
            </a:extLst>
          </p:cNvPr>
          <p:cNvGrpSpPr/>
          <p:nvPr/>
        </p:nvGrpSpPr>
        <p:grpSpPr>
          <a:xfrm>
            <a:off x="207596" y="7336997"/>
            <a:ext cx="14668990" cy="9782603"/>
            <a:chOff x="225180" y="8290675"/>
            <a:chExt cx="14668990" cy="9782603"/>
          </a:xfrm>
        </p:grpSpPr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F757B5F2-E57A-7217-E1AA-4D7E21F42FA0}"/>
                </a:ext>
              </a:extLst>
            </p:cNvPr>
            <p:cNvSpPr/>
            <p:nvPr/>
          </p:nvSpPr>
          <p:spPr>
            <a:xfrm>
              <a:off x="225180" y="8607196"/>
              <a:ext cx="14668990" cy="9466082"/>
            </a:xfrm>
            <a:prstGeom prst="roundRect">
              <a:avLst>
                <a:gd name="adj" fmla="val 1988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D2CE81C2-DE7D-86C0-BE63-0B1C502B9BDA}"/>
                </a:ext>
              </a:extLst>
            </p:cNvPr>
            <p:cNvSpPr/>
            <p:nvPr/>
          </p:nvSpPr>
          <p:spPr>
            <a:xfrm>
              <a:off x="518258" y="8290675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RESULTADOS</a:t>
              </a: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D59CAA55-5763-DE38-517F-B4583DC84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0767" y="-95516"/>
            <a:ext cx="2325820" cy="140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7943CC5D-1654-184E-A7EC-A76F98FA9E8B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-5895"/>
            <a:ext cx="3397496" cy="2303046"/>
            <a:chOff x="0" y="-5895"/>
            <a:chExt cx="4834200" cy="3276938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7E5760BA-D4D0-7C9E-76ED-065ED1139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-5895"/>
              <a:ext cx="4834200" cy="3276938"/>
            </a:xfrm>
            <a:prstGeom prst="rect">
              <a:avLst/>
            </a:prstGeom>
          </p:spPr>
        </p:pic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4D86C97A-A2AB-20A7-3EB2-1F46C5416136}"/>
                </a:ext>
              </a:extLst>
            </p:cNvPr>
            <p:cNvSpPr/>
            <p:nvPr/>
          </p:nvSpPr>
          <p:spPr>
            <a:xfrm>
              <a:off x="964642" y="1549130"/>
              <a:ext cx="2257529" cy="671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70138B42-E335-E05D-E193-37141538289E}"/>
              </a:ext>
            </a:extLst>
          </p:cNvPr>
          <p:cNvSpPr/>
          <p:nvPr/>
        </p:nvSpPr>
        <p:spPr>
          <a:xfrm>
            <a:off x="677955" y="1320342"/>
            <a:ext cx="13763441" cy="1981203"/>
          </a:xfrm>
          <a:prstGeom prst="roundRect">
            <a:avLst>
              <a:gd name="adj" fmla="val 9702"/>
            </a:avLst>
          </a:prstGeom>
          <a:solidFill>
            <a:srgbClr val="4196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tlCol="0" anchor="ctr"/>
          <a:lstStyle/>
          <a:p>
            <a:pPr algn="ctr"/>
            <a:r>
              <a:rPr lang="es-ES" sz="4000" b="1">
                <a:solidFill>
                  <a:schemeClr val="bg1"/>
                </a:solidFill>
              </a:rPr>
              <a:t>Proyecto Transversal en R (I): Análisis de bioestadística aplicada a la expresión génica en Los Simpson</a:t>
            </a:r>
            <a:endParaRPr lang="es-ES_tradnl" sz="4000" b="1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s-ES" sz="2800" b="1" i="1">
                <a:solidFill>
                  <a:schemeClr val="bg1"/>
                </a:solidFill>
              </a:rPr>
              <a:t>Estadística y R para Ciencias de la Salud</a:t>
            </a:r>
            <a:endParaRPr lang="es-ES_tradnl" sz="3600" b="1" i="1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s-ES_tradnl" sz="2000" b="1" i="1">
                <a:solidFill>
                  <a:schemeClr val="bg1"/>
                </a:solidFill>
              </a:rPr>
              <a:t>Paula Sánchez Álvarez, Lidia Conde Matos, Lucía Martínez Garrido, Marina Monzo Gallego, Maria Elena Martínez Garrido, Miguel Grande Falceto, Nuria Fernández Pérez</a:t>
            </a:r>
            <a:endParaRPr lang="es-ES_tradnl" sz="2000" b="1" i="1" dirty="0">
              <a:solidFill>
                <a:schemeClr val="bg1"/>
              </a:solidFill>
            </a:endParaRP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2C6C9477-586D-D4FB-ADEE-063D77B3A812}"/>
              </a:ext>
            </a:extLst>
          </p:cNvPr>
          <p:cNvGrpSpPr/>
          <p:nvPr/>
        </p:nvGrpSpPr>
        <p:grpSpPr>
          <a:xfrm>
            <a:off x="207596" y="17303689"/>
            <a:ext cx="9095800" cy="3844742"/>
            <a:chOff x="225181" y="17303689"/>
            <a:chExt cx="9095800" cy="3844742"/>
          </a:xfrm>
        </p:grpSpPr>
        <p:sp>
          <p:nvSpPr>
            <p:cNvPr id="34" name="Rectángulo redondeado 33">
              <a:extLst>
                <a:ext uri="{FF2B5EF4-FFF2-40B4-BE49-F238E27FC236}">
                  <a16:creationId xmlns:a16="http://schemas.microsoft.com/office/drawing/2014/main" id="{1B34C5B1-3A9B-391B-803D-711026F44639}"/>
                </a:ext>
              </a:extLst>
            </p:cNvPr>
            <p:cNvSpPr/>
            <p:nvPr/>
          </p:nvSpPr>
          <p:spPr>
            <a:xfrm>
              <a:off x="225181" y="17620211"/>
              <a:ext cx="9095800" cy="352822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i="1" dirty="0">
                  <a:solidFill>
                    <a:schemeClr val="tx1"/>
                  </a:solidFill>
                </a:rPr>
                <a:t>Interpretación de resultados, posibles relaciones si aplica, etc.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35" name="Rectángulo redondeado 34">
              <a:extLst>
                <a:ext uri="{FF2B5EF4-FFF2-40B4-BE49-F238E27FC236}">
                  <a16:creationId xmlns:a16="http://schemas.microsoft.com/office/drawing/2014/main" id="{3BC039B6-C9D2-02F3-8F27-C85043A7CC84}"/>
                </a:ext>
              </a:extLst>
            </p:cNvPr>
            <p:cNvSpPr/>
            <p:nvPr/>
          </p:nvSpPr>
          <p:spPr>
            <a:xfrm>
              <a:off x="518258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DISCUSIÓN</a:t>
              </a: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7CDA7380-1384-C476-FC20-7A4A09E7B7FE}"/>
              </a:ext>
            </a:extLst>
          </p:cNvPr>
          <p:cNvGrpSpPr/>
          <p:nvPr/>
        </p:nvGrpSpPr>
        <p:grpSpPr>
          <a:xfrm>
            <a:off x="9509873" y="17303689"/>
            <a:ext cx="5366712" cy="3844742"/>
            <a:chOff x="7784856" y="17303689"/>
            <a:chExt cx="7109314" cy="3844742"/>
          </a:xfrm>
        </p:grpSpPr>
        <p:sp>
          <p:nvSpPr>
            <p:cNvPr id="37" name="Rectángulo redondeado 36">
              <a:extLst>
                <a:ext uri="{FF2B5EF4-FFF2-40B4-BE49-F238E27FC236}">
                  <a16:creationId xmlns:a16="http://schemas.microsoft.com/office/drawing/2014/main" id="{367F38DE-6476-4ED5-51AD-7070BD6A603F}"/>
                </a:ext>
              </a:extLst>
            </p:cNvPr>
            <p:cNvSpPr/>
            <p:nvPr/>
          </p:nvSpPr>
          <p:spPr>
            <a:xfrm>
              <a:off x="7784856" y="17620211"/>
              <a:ext cx="7109314" cy="352822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i="1" dirty="0">
                  <a:solidFill>
                    <a:schemeClr val="tx1"/>
                  </a:solidFill>
                </a:rPr>
                <a:t>Resumen principal de hallazgos y limitaciones del análisis si aplica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38" name="Rectángulo redondeado 37">
              <a:extLst>
                <a:ext uri="{FF2B5EF4-FFF2-40B4-BE49-F238E27FC236}">
                  <a16:creationId xmlns:a16="http://schemas.microsoft.com/office/drawing/2014/main" id="{0757AA33-190F-8E74-0CAC-D7C442BACE75}"/>
                </a:ext>
              </a:extLst>
            </p:cNvPr>
            <p:cNvSpPr/>
            <p:nvPr/>
          </p:nvSpPr>
          <p:spPr>
            <a:xfrm>
              <a:off x="8077933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CONCLUSIONES</a:t>
              </a:r>
            </a:p>
          </p:txBody>
        </p:sp>
      </p:grpSp>
      <p:sp>
        <p:nvSpPr>
          <p:cNvPr id="39" name="Rectángulo redondeado 38">
            <a:extLst>
              <a:ext uri="{FF2B5EF4-FFF2-40B4-BE49-F238E27FC236}">
                <a16:creationId xmlns:a16="http://schemas.microsoft.com/office/drawing/2014/main" id="{05ACB882-C17A-7163-5754-50C1DB29AA22}"/>
              </a:ext>
            </a:extLst>
          </p:cNvPr>
          <p:cNvSpPr/>
          <p:nvPr/>
        </p:nvSpPr>
        <p:spPr>
          <a:xfrm>
            <a:off x="500673" y="8127402"/>
            <a:ext cx="7059002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1</a:t>
            </a:r>
            <a:r>
              <a:rPr kumimoji="0" lang="es-ES_tradnl" sz="1800" b="1" i="0" u="none" strike="noStrike" kern="1200" cap="none" spc="0" normalizeH="0" baseline="0" noProof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Distribución de individuos en las dos primeras componentes principales (PCA) coloreados por categoría de IMC.</a:t>
            </a: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Rectángulo redondeado 39">
            <a:extLst>
              <a:ext uri="{FF2B5EF4-FFF2-40B4-BE49-F238E27FC236}">
                <a16:creationId xmlns:a16="http://schemas.microsoft.com/office/drawing/2014/main" id="{3F03464F-6AD8-145A-F4F0-58880920BB73}"/>
              </a:ext>
            </a:extLst>
          </p:cNvPr>
          <p:cNvSpPr/>
          <p:nvPr/>
        </p:nvSpPr>
        <p:spPr>
          <a:xfrm>
            <a:off x="483088" y="12710097"/>
            <a:ext cx="7059002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2</a:t>
            </a:r>
            <a:r>
              <a:rPr kumimoji="0" lang="es-ES_tradnl" sz="1800" b="1" i="0" u="none" strike="noStrike" kern="1200" cap="none" spc="0" normalizeH="0" baseline="0" noProof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Clustering de las variables génicas basada en sus coordenadas en el análisis de componentes principales.</a:t>
            </a: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Rectángulo redondeado 40">
            <a:extLst>
              <a:ext uri="{FF2B5EF4-FFF2-40B4-BE49-F238E27FC236}">
                <a16:creationId xmlns:a16="http://schemas.microsoft.com/office/drawing/2014/main" id="{A5674FB9-8324-DF2F-A950-34B0495EFB78}"/>
              </a:ext>
            </a:extLst>
          </p:cNvPr>
          <p:cNvSpPr/>
          <p:nvPr/>
        </p:nvSpPr>
        <p:spPr>
          <a:xfrm>
            <a:off x="7688629" y="8127402"/>
            <a:ext cx="7059002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3</a:t>
            </a:r>
            <a:r>
              <a:rPr kumimoji="0" lang="es-ES_tradnl" sz="1800" b="1" i="0" u="none" strike="noStrike" kern="1200" cap="none" spc="0" normalizeH="0" baseline="0" noProof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Heatmap de las correlaciones de Spearman entre las variables génicas y las componentes principales.</a:t>
            </a: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A183F86-D7DD-502A-D747-5A5FBDC12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1785" y="8990048"/>
            <a:ext cx="3970783" cy="340352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A8E1970-B66C-7036-7EB4-94101F925F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4889" y="9247101"/>
            <a:ext cx="5291234" cy="587914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63E81AC-6E62-3552-B12E-B7CFBD3B96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4782" y="13500502"/>
            <a:ext cx="3970783" cy="340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99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CFC6D78-4336-6694-80D8-E4D16D189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32" y="4000859"/>
            <a:ext cx="6400800" cy="54864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49C31BE-A109-546F-614D-2A663828D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675" y="3857875"/>
            <a:ext cx="6400800" cy="54864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9F0C673-0ED0-39C2-3E67-226314319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632" y="9921791"/>
            <a:ext cx="6400800" cy="54864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C19C126-68B2-C4D8-72A4-5D649CDE2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6032" y="9600948"/>
            <a:ext cx="6400800" cy="54864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CB39942-B5D9-5E96-BAD1-ED75E98C5E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411" y="15408191"/>
            <a:ext cx="64008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563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4177D0B-7FAF-B0E1-A6AE-38A30851A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39" y="8076949"/>
            <a:ext cx="8229600" cy="9144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DEF7FBA-C52E-7C9A-B15E-84E0D7439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211" y="11718507"/>
            <a:ext cx="82296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2850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27c1adeb-3674-457c-b08c-8a73f31b6e23" xsi:nil="true"/>
    <lcf76f155ced4ddcb4097134ff3c332f xmlns="27c1adeb-3674-457c-b08c-8a73f31b6e23">
      <Terms xmlns="http://schemas.microsoft.com/office/infopath/2007/PartnerControls"/>
    </lcf76f155ced4ddcb4097134ff3c332f>
    <TaxCatchAll xmlns="0a70e875-3d35-4be2-921f-7117c31bab9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3D7C797EA12745A270EF30E38719B9" ma:contentTypeVersion="20" ma:contentTypeDescription="Crear nuevo documento." ma:contentTypeScope="" ma:versionID="98b23ce13f8ef13134c980882a27b8cc">
  <xsd:schema xmlns:xsd="http://www.w3.org/2001/XMLSchema" xmlns:xs="http://www.w3.org/2001/XMLSchema" xmlns:p="http://schemas.microsoft.com/office/2006/metadata/properties" xmlns:ns2="0a70e875-3d35-4be2-921f-7117c31bab9b" xmlns:ns3="27c1adeb-3674-457c-b08c-8a73f31b6e23" targetNamespace="http://schemas.microsoft.com/office/2006/metadata/properties" ma:root="true" ma:fieldsID="83d50475b18a8f95f7f8edf1c6caa3f2" ns2:_="" ns3:_="">
    <xsd:import namespace="0a70e875-3d35-4be2-921f-7117c31bab9b"/>
    <xsd:import namespace="27c1adeb-3674-457c-b08c-8a73f31b6e2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_Flow_SignoffStatu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0e875-3d35-4be2-921f-7117c31bab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7f67346-78c9-4c4d-b954-8d350fdf60db}" ma:internalName="TaxCatchAll" ma:showField="CatchAllData" ma:web="0a70e875-3d35-4be2-921f-7117c31bab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c1adeb-3674-457c-b08c-8a73f31b6e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17631b59-e624-4eb7-963c-219f14f88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5" nillable="true" ma:displayName="Estado de aprobación" ma:internalName="Estado_x0020_de_x0020_aprobaci_x00f3_n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CFF8D81-72FC-452A-A72A-98522D59D5C9}">
  <ds:schemaRefs>
    <ds:schemaRef ds:uri="http://schemas.microsoft.com/office/2006/metadata/properties"/>
    <ds:schemaRef ds:uri="http://schemas.microsoft.com/office/infopath/2007/PartnerControls"/>
    <ds:schemaRef ds:uri="27c1adeb-3674-457c-b08c-8a73f31b6e23"/>
    <ds:schemaRef ds:uri="0a70e875-3d35-4be2-921f-7117c31bab9b"/>
  </ds:schemaRefs>
</ds:datastoreItem>
</file>

<file path=customXml/itemProps2.xml><?xml version="1.0" encoding="utf-8"?>
<ds:datastoreItem xmlns:ds="http://schemas.openxmlformats.org/officeDocument/2006/customXml" ds:itemID="{8FA9EA36-75B9-47E0-B3F6-D548E75A2A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E4AC05-6E48-496A-9B4A-D9E0A45171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70e875-3d35-4be2-921f-7117c31bab9b"/>
    <ds:schemaRef ds:uri="27c1adeb-3674-457c-b08c-8a73f31b6e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361ecad-3f61-4749-aa5c-87fde47ef9ad}" enabled="1" method="Privileged" siteId="{22c8b4a4-d926-43b2-bcc7-87b998590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</TotalTime>
  <Words>261</Words>
  <Application>Microsoft Office PowerPoint</Application>
  <PresentationFormat>Personalizado</PresentationFormat>
  <Paragraphs>15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 de la O Pascual</dc:creator>
  <cp:lastModifiedBy>miguel  grande falceto</cp:lastModifiedBy>
  <cp:revision>17</cp:revision>
  <dcterms:created xsi:type="dcterms:W3CDTF">2025-04-21T10:03:24Z</dcterms:created>
  <dcterms:modified xsi:type="dcterms:W3CDTF">2026-01-24T11:28:05Z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0x010100DF3D7C797EA12745A270EF30E38719B9</vt:lpwstr>
  </property>
  <property fmtid="{D5CDD505-2E9C-101B-9397-08002B2CF9AE}" pid="3" name="MediaServiceImageTags">
    <vt:lpwstr/>
  </property>
</Properties>
</file>