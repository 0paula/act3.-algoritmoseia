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58" r:id="rId5"/>
    <p:sldId id="259" r:id="rId6"/>
    <p:sldId id="260" r:id="rId7"/>
  </p:sldIdLst>
  <p:sldSz cx="15119350" cy="213836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96C9"/>
    <a:srgbClr val="59C2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911"/>
    <p:restoredTop sz="94703"/>
  </p:normalViewPr>
  <p:slideViewPr>
    <p:cSldViewPr snapToGrid="0">
      <p:cViewPr varScale="1">
        <p:scale>
          <a:sx n="19" d="100"/>
          <a:sy n="19" d="100"/>
        </p:scale>
        <p:origin x="262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3499590"/>
            <a:ext cx="12851448" cy="7444669"/>
          </a:xfrm>
        </p:spPr>
        <p:txBody>
          <a:bodyPr anchor="b"/>
          <a:lstStyle>
            <a:lvl1pPr algn="ctr">
              <a:defRPr sz="9921"/>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89919" y="11231355"/>
            <a:ext cx="11339513" cy="5162758"/>
          </a:xfrm>
        </p:spPr>
        <p:txBody>
          <a:bodyPr/>
          <a:lstStyle>
            <a:lvl1pPr marL="0" indent="0" algn="ctr">
              <a:buNone/>
              <a:defRPr sz="3968"/>
            </a:lvl1pPr>
            <a:lvl2pPr marL="755980" indent="0" algn="ctr">
              <a:buNone/>
              <a:defRPr sz="3307"/>
            </a:lvl2pPr>
            <a:lvl3pPr marL="1511960" indent="0" algn="ctr">
              <a:buNone/>
              <a:defRPr sz="2976"/>
            </a:lvl3pPr>
            <a:lvl4pPr marL="2267941" indent="0" algn="ctr">
              <a:buNone/>
              <a:defRPr sz="2646"/>
            </a:lvl4pPr>
            <a:lvl5pPr marL="3023921" indent="0" algn="ctr">
              <a:buNone/>
              <a:defRPr sz="2646"/>
            </a:lvl5pPr>
            <a:lvl6pPr marL="3779901" indent="0" algn="ctr">
              <a:buNone/>
              <a:defRPr sz="2646"/>
            </a:lvl6pPr>
            <a:lvl7pPr marL="4535881" indent="0" algn="ctr">
              <a:buNone/>
              <a:defRPr sz="2646"/>
            </a:lvl7pPr>
            <a:lvl8pPr marL="5291861" indent="0" algn="ctr">
              <a:buNone/>
              <a:defRPr sz="2646"/>
            </a:lvl8pPr>
            <a:lvl9pPr marL="6047842" indent="0" algn="ctr">
              <a:buNone/>
              <a:defRPr sz="2646"/>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25/01/2026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149784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25/01/2026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2891489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031582" y="5331063"/>
            <a:ext cx="13040439" cy="8894992"/>
          </a:xfrm>
        </p:spPr>
        <p:txBody>
          <a:bodyPr anchor="b"/>
          <a:lstStyle>
            <a:lvl1pPr>
              <a:defRPr sz="9921"/>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1582" y="14310205"/>
            <a:ext cx="13040439" cy="4677666"/>
          </a:xfrm>
        </p:spPr>
        <p:txBody>
          <a:bodyPr/>
          <a:lstStyle>
            <a:lvl1pPr marL="0" indent="0">
              <a:buNone/>
              <a:defRPr sz="3968">
                <a:solidFill>
                  <a:schemeClr val="tx1">
                    <a:tint val="82000"/>
                  </a:schemeClr>
                </a:solidFill>
              </a:defRPr>
            </a:lvl1pPr>
            <a:lvl2pPr marL="755980" indent="0">
              <a:buNone/>
              <a:defRPr sz="3307">
                <a:solidFill>
                  <a:schemeClr val="tx1">
                    <a:tint val="82000"/>
                  </a:schemeClr>
                </a:solidFill>
              </a:defRPr>
            </a:lvl2pPr>
            <a:lvl3pPr marL="1511960" indent="0">
              <a:buNone/>
              <a:defRPr sz="2976">
                <a:solidFill>
                  <a:schemeClr val="tx1">
                    <a:tint val="82000"/>
                  </a:schemeClr>
                </a:solidFill>
              </a:defRPr>
            </a:lvl3pPr>
            <a:lvl4pPr marL="2267941" indent="0">
              <a:buNone/>
              <a:defRPr sz="2646">
                <a:solidFill>
                  <a:schemeClr val="tx1">
                    <a:tint val="82000"/>
                  </a:schemeClr>
                </a:solidFill>
              </a:defRPr>
            </a:lvl4pPr>
            <a:lvl5pPr marL="3023921" indent="0">
              <a:buNone/>
              <a:defRPr sz="2646">
                <a:solidFill>
                  <a:schemeClr val="tx1">
                    <a:tint val="82000"/>
                  </a:schemeClr>
                </a:solidFill>
              </a:defRPr>
            </a:lvl5pPr>
            <a:lvl6pPr marL="3779901" indent="0">
              <a:buNone/>
              <a:defRPr sz="2646">
                <a:solidFill>
                  <a:schemeClr val="tx1">
                    <a:tint val="82000"/>
                  </a:schemeClr>
                </a:solidFill>
              </a:defRPr>
            </a:lvl6pPr>
            <a:lvl7pPr marL="4535881" indent="0">
              <a:buNone/>
              <a:defRPr sz="2646">
                <a:solidFill>
                  <a:schemeClr val="tx1">
                    <a:tint val="82000"/>
                  </a:schemeClr>
                </a:solidFill>
              </a:defRPr>
            </a:lvl7pPr>
            <a:lvl8pPr marL="5291861" indent="0">
              <a:buNone/>
              <a:defRPr sz="2646">
                <a:solidFill>
                  <a:schemeClr val="tx1">
                    <a:tint val="82000"/>
                  </a:schemeClr>
                </a:solidFill>
              </a:defRPr>
            </a:lvl8pPr>
            <a:lvl9pPr marL="6047842" indent="0">
              <a:buNone/>
              <a:defRPr sz="2646">
                <a:solidFill>
                  <a:schemeClr val="tx1">
                    <a:tint val="82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DA1BBD-1589-104E-89D9-FD291A5EDB06}" type="datetimeFigureOut">
              <a:rPr lang="es-ES_tradnl" smtClean="0"/>
              <a:t>25/01/2026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1698851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39455"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654171"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8DA1BBD-1589-104E-89D9-FD291A5EDB06}" type="datetimeFigureOut">
              <a:rPr lang="es-ES_tradnl" smtClean="0"/>
              <a:t>25/01/2026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921705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041425" y="1138485"/>
            <a:ext cx="13040439" cy="413317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41426" y="5241960"/>
            <a:ext cx="63961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4" name="Content Placeholder 3"/>
          <p:cNvSpPr>
            <a:spLocks noGrp="1"/>
          </p:cNvSpPr>
          <p:nvPr>
            <p:ph sz="half" idx="2"/>
          </p:nvPr>
        </p:nvSpPr>
        <p:spPr>
          <a:xfrm>
            <a:off x="1041426" y="7810963"/>
            <a:ext cx="63961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654172" y="5241960"/>
            <a:ext cx="64276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6" name="Content Placeholder 5"/>
          <p:cNvSpPr>
            <a:spLocks noGrp="1"/>
          </p:cNvSpPr>
          <p:nvPr>
            <p:ph sz="quarter" idx="4"/>
          </p:nvPr>
        </p:nvSpPr>
        <p:spPr>
          <a:xfrm>
            <a:off x="7654172" y="7810963"/>
            <a:ext cx="64276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8DA1BBD-1589-104E-89D9-FD291A5EDB06}" type="datetimeFigureOut">
              <a:rPr lang="es-ES_tradnl" smtClean="0"/>
              <a:t>25/01/2026</a:t>
            </a:fld>
            <a:endParaRPr lang="es-ES_tradnl"/>
          </a:p>
        </p:txBody>
      </p:sp>
      <p:sp>
        <p:nvSpPr>
          <p:cNvPr id="8" name="Footer Placeholder 7"/>
          <p:cNvSpPr>
            <a:spLocks noGrp="1"/>
          </p:cNvSpPr>
          <p:nvPr>
            <p:ph type="ftr" sz="quarter" idx="11"/>
          </p:nvPr>
        </p:nvSpPr>
        <p:spPr/>
        <p:txBody>
          <a:bodyPr/>
          <a:lstStyle/>
          <a:p>
            <a:endParaRPr lang="es-ES_tradnl"/>
          </a:p>
        </p:txBody>
      </p:sp>
      <p:sp>
        <p:nvSpPr>
          <p:cNvPr id="9" name="Slide Number Placeholder 8"/>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1632023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8DA1BBD-1589-104E-89D9-FD291A5EDB06}" type="datetimeFigureOut">
              <a:rPr lang="es-ES_tradnl" smtClean="0"/>
              <a:t>25/01/2026</a:t>
            </a:fld>
            <a:endParaRPr lang="es-ES_tradnl"/>
          </a:p>
        </p:txBody>
      </p:sp>
      <p:sp>
        <p:nvSpPr>
          <p:cNvPr id="4" name="Footer Placeholder 3"/>
          <p:cNvSpPr>
            <a:spLocks noGrp="1"/>
          </p:cNvSpPr>
          <p:nvPr>
            <p:ph type="ftr" sz="quarter" idx="11"/>
          </p:nvPr>
        </p:nvSpPr>
        <p:spPr/>
        <p:txBody>
          <a:bodyPr/>
          <a:lstStyle/>
          <a:p>
            <a:endParaRPr lang="es-ES_tradnl"/>
          </a:p>
        </p:txBody>
      </p:sp>
      <p:sp>
        <p:nvSpPr>
          <p:cNvPr id="5" name="Slide Number Placeholder 4"/>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3892796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DA1BBD-1589-104E-89D9-FD291A5EDB06}" type="datetimeFigureOut">
              <a:rPr lang="es-ES_tradnl" smtClean="0"/>
              <a:t>25/01/2026</a:t>
            </a:fld>
            <a:endParaRPr lang="es-ES_tradnl"/>
          </a:p>
        </p:txBody>
      </p:sp>
      <p:sp>
        <p:nvSpPr>
          <p:cNvPr id="3" name="Footer Placeholder 2"/>
          <p:cNvSpPr>
            <a:spLocks noGrp="1"/>
          </p:cNvSpPr>
          <p:nvPr>
            <p:ph type="ftr" sz="quarter" idx="11"/>
          </p:nvPr>
        </p:nvSpPr>
        <p:spPr/>
        <p:txBody>
          <a:bodyPr/>
          <a:lstStyle/>
          <a:p>
            <a:endParaRPr lang="es-ES_tradnl"/>
          </a:p>
        </p:txBody>
      </p:sp>
      <p:sp>
        <p:nvSpPr>
          <p:cNvPr id="4" name="Slide Number Placeholder 3"/>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2542561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Content Placeholder 2"/>
          <p:cNvSpPr>
            <a:spLocks noGrp="1"/>
          </p:cNvSpPr>
          <p:nvPr>
            <p:ph idx="1"/>
          </p:nvPr>
        </p:nvSpPr>
        <p:spPr>
          <a:xfrm>
            <a:off x="6427693" y="3078850"/>
            <a:ext cx="7654171" cy="15196234"/>
          </a:xfrm>
        </p:spPr>
        <p:txBody>
          <a:bodyPr/>
          <a:lstStyle>
            <a:lvl1pPr>
              <a:defRPr sz="5291"/>
            </a:lvl1pPr>
            <a:lvl2pPr>
              <a:defRPr sz="4630"/>
            </a:lvl2pPr>
            <a:lvl3pPr>
              <a:defRPr sz="3968"/>
            </a:lvl3pPr>
            <a:lvl4pPr>
              <a:defRPr sz="3307"/>
            </a:lvl4pPr>
            <a:lvl5pPr>
              <a:defRPr sz="3307"/>
            </a:lvl5pPr>
            <a:lvl6pPr>
              <a:defRPr sz="3307"/>
            </a:lvl6pPr>
            <a:lvl7pPr>
              <a:defRPr sz="3307"/>
            </a:lvl7pPr>
            <a:lvl8pPr>
              <a:defRPr sz="3307"/>
            </a:lvl8pPr>
            <a:lvl9pPr>
              <a:defRPr sz="3307"/>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25/01/2026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2048480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427693" y="3078850"/>
            <a:ext cx="7654171" cy="15196234"/>
          </a:xfrm>
        </p:spPr>
        <p:txBody>
          <a:bodyPr anchor="t"/>
          <a:lstStyle>
            <a:lvl1pPr marL="0" indent="0">
              <a:buNone/>
              <a:defRPr sz="5291"/>
            </a:lvl1pPr>
            <a:lvl2pPr marL="755980" indent="0">
              <a:buNone/>
              <a:defRPr sz="4630"/>
            </a:lvl2pPr>
            <a:lvl3pPr marL="1511960" indent="0">
              <a:buNone/>
              <a:defRPr sz="3968"/>
            </a:lvl3pPr>
            <a:lvl4pPr marL="2267941" indent="0">
              <a:buNone/>
              <a:defRPr sz="3307"/>
            </a:lvl4pPr>
            <a:lvl5pPr marL="3023921" indent="0">
              <a:buNone/>
              <a:defRPr sz="3307"/>
            </a:lvl5pPr>
            <a:lvl6pPr marL="3779901" indent="0">
              <a:buNone/>
              <a:defRPr sz="3307"/>
            </a:lvl6pPr>
            <a:lvl7pPr marL="4535881" indent="0">
              <a:buNone/>
              <a:defRPr sz="3307"/>
            </a:lvl7pPr>
            <a:lvl8pPr marL="5291861" indent="0">
              <a:buNone/>
              <a:defRPr sz="3307"/>
            </a:lvl8pPr>
            <a:lvl9pPr marL="6047842" indent="0">
              <a:buNone/>
              <a:defRPr sz="3307"/>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25/01/2026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377756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25/01/2026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2336129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1138480"/>
            <a:ext cx="3260110" cy="1812163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39456" y="1138480"/>
            <a:ext cx="9591338" cy="1812163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25/01/2026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2307249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1138485"/>
            <a:ext cx="13040439" cy="4133179"/>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9456" y="5692400"/>
            <a:ext cx="13040439" cy="13567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9455" y="19819457"/>
            <a:ext cx="3401854" cy="1138480"/>
          </a:xfrm>
          <a:prstGeom prst="rect">
            <a:avLst/>
          </a:prstGeom>
        </p:spPr>
        <p:txBody>
          <a:bodyPr vert="horz" lIns="91440" tIns="45720" rIns="91440" bIns="45720" rtlCol="0" anchor="ctr"/>
          <a:lstStyle>
            <a:lvl1pPr algn="l">
              <a:defRPr sz="1984">
                <a:solidFill>
                  <a:schemeClr val="tx1">
                    <a:tint val="82000"/>
                  </a:schemeClr>
                </a:solidFill>
              </a:defRPr>
            </a:lvl1pPr>
          </a:lstStyle>
          <a:p>
            <a:fld id="{A8DA1BBD-1589-104E-89D9-FD291A5EDB06}" type="datetimeFigureOut">
              <a:rPr lang="es-ES_tradnl" smtClean="0"/>
              <a:t>25/01/2026</a:t>
            </a:fld>
            <a:endParaRPr lang="es-ES_tradnl"/>
          </a:p>
        </p:txBody>
      </p:sp>
      <p:sp>
        <p:nvSpPr>
          <p:cNvPr id="5" name="Footer Placeholder 4"/>
          <p:cNvSpPr>
            <a:spLocks noGrp="1"/>
          </p:cNvSpPr>
          <p:nvPr>
            <p:ph type="ftr" sz="quarter" idx="3"/>
          </p:nvPr>
        </p:nvSpPr>
        <p:spPr>
          <a:xfrm>
            <a:off x="5008285" y="19819457"/>
            <a:ext cx="5102781" cy="1138480"/>
          </a:xfrm>
          <a:prstGeom prst="rect">
            <a:avLst/>
          </a:prstGeom>
        </p:spPr>
        <p:txBody>
          <a:bodyPr vert="horz" lIns="91440" tIns="45720" rIns="91440" bIns="45720" rtlCol="0" anchor="ctr"/>
          <a:lstStyle>
            <a:lvl1pPr algn="ctr">
              <a:defRPr sz="1984">
                <a:solidFill>
                  <a:schemeClr val="tx1">
                    <a:tint val="82000"/>
                  </a:schemeClr>
                </a:solidFill>
              </a:defRPr>
            </a:lvl1pPr>
          </a:lstStyle>
          <a:p>
            <a:endParaRPr lang="es-ES_tradnl"/>
          </a:p>
        </p:txBody>
      </p:sp>
      <p:sp>
        <p:nvSpPr>
          <p:cNvPr id="6" name="Slide Number Placeholder 5"/>
          <p:cNvSpPr>
            <a:spLocks noGrp="1"/>
          </p:cNvSpPr>
          <p:nvPr>
            <p:ph type="sldNum" sz="quarter" idx="4"/>
          </p:nvPr>
        </p:nvSpPr>
        <p:spPr>
          <a:xfrm>
            <a:off x="10678041" y="19819457"/>
            <a:ext cx="3401854" cy="1138480"/>
          </a:xfrm>
          <a:prstGeom prst="rect">
            <a:avLst/>
          </a:prstGeom>
        </p:spPr>
        <p:txBody>
          <a:bodyPr vert="horz" lIns="91440" tIns="45720" rIns="91440" bIns="45720" rtlCol="0" anchor="ctr"/>
          <a:lstStyle>
            <a:lvl1pPr algn="r">
              <a:defRPr sz="1984">
                <a:solidFill>
                  <a:schemeClr val="tx1">
                    <a:tint val="82000"/>
                  </a:schemeClr>
                </a:solidFill>
              </a:defRPr>
            </a:lvl1pPr>
          </a:lstStyle>
          <a:p>
            <a:fld id="{A52F3024-9AEF-C645-BE7A-258C41DDD14E}" type="slidenum">
              <a:rPr lang="es-ES_tradnl" smtClean="0"/>
              <a:t>‹#›</a:t>
            </a:fld>
            <a:endParaRPr lang="es-ES_tradnl"/>
          </a:p>
        </p:txBody>
      </p:sp>
    </p:spTree>
    <p:extLst>
      <p:ext uri="{BB962C8B-B14F-4D97-AF65-F5344CB8AC3E}">
        <p14:creationId xmlns:p14="http://schemas.microsoft.com/office/powerpoint/2010/main" val="28325351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511960" rtl="0" eaLnBrk="1" latinLnBrk="0" hangingPunct="1">
        <a:lnSpc>
          <a:spcPct val="90000"/>
        </a:lnSpc>
        <a:spcBef>
          <a:spcPct val="0"/>
        </a:spcBef>
        <a:buNone/>
        <a:defRPr sz="7275" kern="1200">
          <a:solidFill>
            <a:schemeClr val="tx1"/>
          </a:solidFill>
          <a:latin typeface="+mj-lt"/>
          <a:ea typeface="+mj-ea"/>
          <a:cs typeface="+mj-cs"/>
        </a:defRPr>
      </a:lvl1pPr>
    </p:titleStyle>
    <p:bodyStyle>
      <a:lvl1pPr marL="377990" indent="-377990" algn="l" defTabSz="1511960" rtl="0" eaLnBrk="1" latinLnBrk="0" hangingPunct="1">
        <a:lnSpc>
          <a:spcPct val="90000"/>
        </a:lnSpc>
        <a:spcBef>
          <a:spcPts val="1654"/>
        </a:spcBef>
        <a:buFont typeface="Arial" panose="020B0604020202020204" pitchFamily="34" charset="0"/>
        <a:buChar char="•"/>
        <a:defRPr sz="4630" kern="1200">
          <a:solidFill>
            <a:schemeClr val="tx1"/>
          </a:solidFill>
          <a:latin typeface="+mn-lt"/>
          <a:ea typeface="+mn-ea"/>
          <a:cs typeface="+mn-cs"/>
        </a:defRPr>
      </a:lvl1pPr>
      <a:lvl2pPr marL="1133970" indent="-377990" algn="l" defTabSz="1511960" rtl="0" eaLnBrk="1" latinLnBrk="0" hangingPunct="1">
        <a:lnSpc>
          <a:spcPct val="90000"/>
        </a:lnSpc>
        <a:spcBef>
          <a:spcPts val="827"/>
        </a:spcBef>
        <a:buFont typeface="Arial" panose="020B0604020202020204" pitchFamily="34" charset="0"/>
        <a:buChar char="•"/>
        <a:defRPr sz="3968" kern="1200">
          <a:solidFill>
            <a:schemeClr val="tx1"/>
          </a:solidFill>
          <a:latin typeface="+mn-lt"/>
          <a:ea typeface="+mn-ea"/>
          <a:cs typeface="+mn-cs"/>
        </a:defRPr>
      </a:lvl2pPr>
      <a:lvl3pPr marL="1889951" indent="-377990" algn="l" defTabSz="1511960" rtl="0" eaLnBrk="1" latinLnBrk="0" hangingPunct="1">
        <a:lnSpc>
          <a:spcPct val="90000"/>
        </a:lnSpc>
        <a:spcBef>
          <a:spcPts val="827"/>
        </a:spcBef>
        <a:buFont typeface="Arial" panose="020B0604020202020204" pitchFamily="34" charset="0"/>
        <a:buChar char="•"/>
        <a:defRPr sz="3307" kern="1200">
          <a:solidFill>
            <a:schemeClr val="tx1"/>
          </a:solidFill>
          <a:latin typeface="+mn-lt"/>
          <a:ea typeface="+mn-ea"/>
          <a:cs typeface="+mn-cs"/>
        </a:defRPr>
      </a:lvl3pPr>
      <a:lvl4pPr marL="264593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4pPr>
      <a:lvl5pPr marL="340191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5pPr>
      <a:lvl6pPr marL="415789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6pPr>
      <a:lvl7pPr marL="491387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7pPr>
      <a:lvl8pPr marL="566985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8pPr>
      <a:lvl9pPr marL="642583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9pPr>
    </p:bodyStyle>
    <p:otherStyle>
      <a:defPPr>
        <a:defRPr lang="en-US"/>
      </a:defPPr>
      <a:lvl1pPr marL="0" algn="l" defTabSz="1511960" rtl="0" eaLnBrk="1" latinLnBrk="0" hangingPunct="1">
        <a:defRPr sz="2976" kern="1200">
          <a:solidFill>
            <a:schemeClr val="tx1"/>
          </a:solidFill>
          <a:latin typeface="+mn-lt"/>
          <a:ea typeface="+mn-ea"/>
          <a:cs typeface="+mn-cs"/>
        </a:defRPr>
      </a:lvl1pPr>
      <a:lvl2pPr marL="755980" algn="l" defTabSz="1511960" rtl="0" eaLnBrk="1" latinLnBrk="0" hangingPunct="1">
        <a:defRPr sz="2976" kern="1200">
          <a:solidFill>
            <a:schemeClr val="tx1"/>
          </a:solidFill>
          <a:latin typeface="+mn-lt"/>
          <a:ea typeface="+mn-ea"/>
          <a:cs typeface="+mn-cs"/>
        </a:defRPr>
      </a:lvl2pPr>
      <a:lvl3pPr marL="1511960" algn="l" defTabSz="1511960" rtl="0" eaLnBrk="1" latinLnBrk="0" hangingPunct="1">
        <a:defRPr sz="2976" kern="1200">
          <a:solidFill>
            <a:schemeClr val="tx1"/>
          </a:solidFill>
          <a:latin typeface="+mn-lt"/>
          <a:ea typeface="+mn-ea"/>
          <a:cs typeface="+mn-cs"/>
        </a:defRPr>
      </a:lvl3pPr>
      <a:lvl4pPr marL="2267941" algn="l" defTabSz="1511960" rtl="0" eaLnBrk="1" latinLnBrk="0" hangingPunct="1">
        <a:defRPr sz="2976" kern="1200">
          <a:solidFill>
            <a:schemeClr val="tx1"/>
          </a:solidFill>
          <a:latin typeface="+mn-lt"/>
          <a:ea typeface="+mn-ea"/>
          <a:cs typeface="+mn-cs"/>
        </a:defRPr>
      </a:lvl4pPr>
      <a:lvl5pPr marL="3023921" algn="l" defTabSz="1511960" rtl="0" eaLnBrk="1" latinLnBrk="0" hangingPunct="1">
        <a:defRPr sz="2976" kern="1200">
          <a:solidFill>
            <a:schemeClr val="tx1"/>
          </a:solidFill>
          <a:latin typeface="+mn-lt"/>
          <a:ea typeface="+mn-ea"/>
          <a:cs typeface="+mn-cs"/>
        </a:defRPr>
      </a:lvl5pPr>
      <a:lvl6pPr marL="3779901" algn="l" defTabSz="1511960" rtl="0" eaLnBrk="1" latinLnBrk="0" hangingPunct="1">
        <a:defRPr sz="2976" kern="1200">
          <a:solidFill>
            <a:schemeClr val="tx1"/>
          </a:solidFill>
          <a:latin typeface="+mn-lt"/>
          <a:ea typeface="+mn-ea"/>
          <a:cs typeface="+mn-cs"/>
        </a:defRPr>
      </a:lvl6pPr>
      <a:lvl7pPr marL="4535881" algn="l" defTabSz="1511960" rtl="0" eaLnBrk="1" latinLnBrk="0" hangingPunct="1">
        <a:defRPr sz="2976" kern="1200">
          <a:solidFill>
            <a:schemeClr val="tx1"/>
          </a:solidFill>
          <a:latin typeface="+mn-lt"/>
          <a:ea typeface="+mn-ea"/>
          <a:cs typeface="+mn-cs"/>
        </a:defRPr>
      </a:lvl7pPr>
      <a:lvl8pPr marL="5291861" algn="l" defTabSz="1511960" rtl="0" eaLnBrk="1" latinLnBrk="0" hangingPunct="1">
        <a:defRPr sz="2976" kern="1200">
          <a:solidFill>
            <a:schemeClr val="tx1"/>
          </a:solidFill>
          <a:latin typeface="+mn-lt"/>
          <a:ea typeface="+mn-ea"/>
          <a:cs typeface="+mn-cs"/>
        </a:defRPr>
      </a:lvl8pPr>
      <a:lvl9pPr marL="6047842" algn="l" defTabSz="1511960" rtl="0" eaLnBrk="1" latinLnBrk="0" hangingPunct="1">
        <a:defRPr sz="297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a:extLst>
            <a:ext uri="{FF2B5EF4-FFF2-40B4-BE49-F238E27FC236}">
              <a16:creationId xmlns:a16="http://schemas.microsoft.com/office/drawing/2014/main" id="{177A72C3-DD61-5B61-E46F-EDD19D1F5215}"/>
            </a:ext>
          </a:extLst>
        </p:cNvPr>
        <p:cNvGrpSpPr/>
        <p:nvPr/>
      </p:nvGrpSpPr>
      <p:grpSpPr>
        <a:xfrm>
          <a:off x="0" y="0"/>
          <a:ext cx="0" cy="0"/>
          <a:chOff x="0" y="0"/>
          <a:chExt cx="0" cy="0"/>
        </a:xfrm>
      </p:grpSpPr>
      <p:grpSp>
        <p:nvGrpSpPr>
          <p:cNvPr id="4" name="Grupo 3">
            <a:extLst>
              <a:ext uri="{FF2B5EF4-FFF2-40B4-BE49-F238E27FC236}">
                <a16:creationId xmlns:a16="http://schemas.microsoft.com/office/drawing/2014/main" id="{E1AA44F9-4D9B-B58B-32B6-5CC8410E7CBE}"/>
              </a:ext>
            </a:extLst>
          </p:cNvPr>
          <p:cNvGrpSpPr/>
          <p:nvPr/>
        </p:nvGrpSpPr>
        <p:grpSpPr>
          <a:xfrm>
            <a:off x="225180" y="3484254"/>
            <a:ext cx="14668990" cy="1504934"/>
            <a:chOff x="225180" y="3930299"/>
            <a:chExt cx="14668990" cy="1504934"/>
          </a:xfrm>
        </p:grpSpPr>
        <p:sp>
          <p:nvSpPr>
            <p:cNvPr id="8" name="Rectángulo redondeado 7">
              <a:extLst>
                <a:ext uri="{FF2B5EF4-FFF2-40B4-BE49-F238E27FC236}">
                  <a16:creationId xmlns:a16="http://schemas.microsoft.com/office/drawing/2014/main" id="{C4D1F524-44A5-F16E-9FD3-EE5EA5819EAD}"/>
                </a:ext>
              </a:extLst>
            </p:cNvPr>
            <p:cNvSpPr/>
            <p:nvPr/>
          </p:nvSpPr>
          <p:spPr>
            <a:xfrm>
              <a:off x="225180" y="4246822"/>
              <a:ext cx="14668990" cy="1188411"/>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 i="1" dirty="0">
                  <a:solidFill>
                    <a:schemeClr val="tx1"/>
                  </a:solidFill>
                </a:rPr>
                <a:t>Este estudio busca clasificar a los pacientes según su perfil de expresión génica y estado de obesidad mediante técnicas de reducción dimensional. Esta metodología permite identificar biomarcadores asociados al riesgo de obesidad, facilitando el desarrollo de estrategias diagnósticas personalizadas que optimicen el manejo clínico y la estratificación de la población.</a:t>
              </a:r>
              <a:endParaRPr lang="es-ES_tradnl" sz="2400" i="1" dirty="0">
                <a:solidFill>
                  <a:schemeClr val="tx1"/>
                </a:solidFill>
              </a:endParaRPr>
            </a:p>
          </p:txBody>
        </p:sp>
        <p:sp>
          <p:nvSpPr>
            <p:cNvPr id="7" name="Rectángulo redondeado 6">
              <a:extLst>
                <a:ext uri="{FF2B5EF4-FFF2-40B4-BE49-F238E27FC236}">
                  <a16:creationId xmlns:a16="http://schemas.microsoft.com/office/drawing/2014/main" id="{15811AE5-F929-12ED-D44E-9D1519220278}"/>
                </a:ext>
              </a:extLst>
            </p:cNvPr>
            <p:cNvSpPr/>
            <p:nvPr/>
          </p:nvSpPr>
          <p:spPr>
            <a:xfrm>
              <a:off x="518258" y="393029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a:t>INTRODUCCIÓN</a:t>
              </a:r>
              <a:endParaRPr lang="es-ES_tradnl" sz="2800" b="1" dirty="0"/>
            </a:p>
          </p:txBody>
        </p:sp>
      </p:grpSp>
      <p:grpSp>
        <p:nvGrpSpPr>
          <p:cNvPr id="6" name="Grupo 5">
            <a:extLst>
              <a:ext uri="{FF2B5EF4-FFF2-40B4-BE49-F238E27FC236}">
                <a16:creationId xmlns:a16="http://schemas.microsoft.com/office/drawing/2014/main" id="{88FB225B-2F62-B172-D75B-E02EF3836A0E}"/>
              </a:ext>
            </a:extLst>
          </p:cNvPr>
          <p:cNvGrpSpPr/>
          <p:nvPr/>
        </p:nvGrpSpPr>
        <p:grpSpPr>
          <a:xfrm>
            <a:off x="207595" y="5300429"/>
            <a:ext cx="14837672" cy="1790374"/>
            <a:chOff x="207596" y="6110487"/>
            <a:chExt cx="14837672" cy="2145260"/>
          </a:xfrm>
        </p:grpSpPr>
        <p:sp>
          <p:nvSpPr>
            <p:cNvPr id="14" name="Rectángulo redondeado 13">
              <a:extLst>
                <a:ext uri="{FF2B5EF4-FFF2-40B4-BE49-F238E27FC236}">
                  <a16:creationId xmlns:a16="http://schemas.microsoft.com/office/drawing/2014/main" id="{FC179AD0-ED02-975F-E151-1E1C61EAD8F2}"/>
                </a:ext>
              </a:extLst>
            </p:cNvPr>
            <p:cNvSpPr/>
            <p:nvPr/>
          </p:nvSpPr>
          <p:spPr>
            <a:xfrm>
              <a:off x="207596" y="6427010"/>
              <a:ext cx="14837672" cy="1828737"/>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r>
                <a:rPr lang="es-ES" i="1" dirty="0">
                  <a:solidFill>
                    <a:schemeClr val="tx1"/>
                  </a:solidFill>
                </a:rPr>
                <a:t>Se analizó la expresión de 37 genes en 59 pacientes mediante análisis de componentes principales (PCA) con escalado, extrayendo 6 componentes para reducción dimensional. Previo al PCA, se evaluó la normalidad con el test de Shapiro-Wilk y se realizó </a:t>
              </a:r>
              <a:r>
                <a:rPr lang="es-ES" i="1" dirty="0" err="1">
                  <a:solidFill>
                    <a:schemeClr val="tx1"/>
                  </a:solidFill>
                </a:rPr>
                <a:t>clustering</a:t>
              </a:r>
              <a:r>
                <a:rPr lang="es-ES" i="1" dirty="0">
                  <a:solidFill>
                    <a:schemeClr val="tx1"/>
                  </a:solidFill>
                </a:rPr>
                <a:t> (k=3) con </a:t>
              </a:r>
              <a:r>
                <a:rPr lang="es-ES" i="1" dirty="0" err="1">
                  <a:solidFill>
                    <a:schemeClr val="tx1"/>
                  </a:solidFill>
                </a:rPr>
                <a:t>heatmaps</a:t>
              </a:r>
              <a:r>
                <a:rPr lang="es-ES" i="1" dirty="0">
                  <a:solidFill>
                    <a:schemeClr val="tx1"/>
                  </a:solidFill>
                </a:rPr>
                <a:t> de correlación de Spearman. El análisis incluyó estadística descriptiva por </a:t>
              </a:r>
              <a:r>
                <a:rPr lang="es-ES" i="1" dirty="0" err="1">
                  <a:solidFill>
                    <a:schemeClr val="tx1"/>
                  </a:solidFill>
                </a:rPr>
                <a:t>terciles</a:t>
              </a:r>
              <a:r>
                <a:rPr lang="es-ES" i="1" dirty="0">
                  <a:solidFill>
                    <a:schemeClr val="tx1"/>
                  </a:solidFill>
                </a:rPr>
                <a:t> de componentes y modelos de regresión logística ajustada para predecir metástasis, implementado en R usando </a:t>
              </a:r>
              <a:r>
                <a:rPr lang="es-ES" i="1" dirty="0" err="1">
                  <a:solidFill>
                    <a:schemeClr val="tx1"/>
                  </a:solidFill>
                </a:rPr>
                <a:t>factoextra</a:t>
              </a:r>
              <a:r>
                <a:rPr lang="es-ES" i="1" dirty="0">
                  <a:solidFill>
                    <a:schemeClr val="tx1"/>
                  </a:solidFill>
                </a:rPr>
                <a:t>, </a:t>
              </a:r>
              <a:r>
                <a:rPr lang="es-ES" i="1" dirty="0" err="1">
                  <a:solidFill>
                    <a:schemeClr val="tx1"/>
                  </a:solidFill>
                </a:rPr>
                <a:t>pheatmap</a:t>
              </a:r>
              <a:r>
                <a:rPr lang="es-ES" i="1" dirty="0">
                  <a:solidFill>
                    <a:schemeClr val="tx1"/>
                  </a:solidFill>
                </a:rPr>
                <a:t> y </a:t>
              </a:r>
              <a:r>
                <a:rPr lang="es-ES" i="1" dirty="0" err="1">
                  <a:solidFill>
                    <a:schemeClr val="tx1"/>
                  </a:solidFill>
                </a:rPr>
                <a:t>gtsummary</a:t>
              </a:r>
              <a:r>
                <a:rPr lang="es-ES" i="1" dirty="0">
                  <a:solidFill>
                    <a:schemeClr val="tx1"/>
                  </a:solidFill>
                </a:rPr>
                <a:t>.</a:t>
              </a:r>
              <a:endParaRPr lang="es-ES_tradnl" sz="2400" i="1" dirty="0">
                <a:solidFill>
                  <a:schemeClr val="tx1"/>
                </a:solidFill>
              </a:endParaRPr>
            </a:p>
          </p:txBody>
        </p:sp>
        <p:sp>
          <p:nvSpPr>
            <p:cNvPr id="15" name="Rectángulo redondeado 14">
              <a:extLst>
                <a:ext uri="{FF2B5EF4-FFF2-40B4-BE49-F238E27FC236}">
                  <a16:creationId xmlns:a16="http://schemas.microsoft.com/office/drawing/2014/main" id="{51C45BDA-AC75-EE13-A211-698BB3CF2EDC}"/>
                </a:ext>
              </a:extLst>
            </p:cNvPr>
            <p:cNvSpPr/>
            <p:nvPr/>
          </p:nvSpPr>
          <p:spPr>
            <a:xfrm>
              <a:off x="500674" y="6110487"/>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METODOLOGÍA</a:t>
              </a:r>
            </a:p>
          </p:txBody>
        </p:sp>
      </p:grpSp>
      <p:grpSp>
        <p:nvGrpSpPr>
          <p:cNvPr id="9" name="Grupo 8">
            <a:extLst>
              <a:ext uri="{FF2B5EF4-FFF2-40B4-BE49-F238E27FC236}">
                <a16:creationId xmlns:a16="http://schemas.microsoft.com/office/drawing/2014/main" id="{0449220D-F047-A208-80A5-ECB282B1A62A}"/>
              </a:ext>
            </a:extLst>
          </p:cNvPr>
          <p:cNvGrpSpPr/>
          <p:nvPr/>
        </p:nvGrpSpPr>
        <p:grpSpPr>
          <a:xfrm>
            <a:off x="207596" y="7336997"/>
            <a:ext cx="14668990" cy="9350803"/>
            <a:chOff x="225180" y="8290675"/>
            <a:chExt cx="14668990" cy="9782603"/>
          </a:xfrm>
        </p:grpSpPr>
        <p:sp>
          <p:nvSpPr>
            <p:cNvPr id="16" name="Rectángulo redondeado 15">
              <a:extLst>
                <a:ext uri="{FF2B5EF4-FFF2-40B4-BE49-F238E27FC236}">
                  <a16:creationId xmlns:a16="http://schemas.microsoft.com/office/drawing/2014/main" id="{F757B5F2-E57A-7217-E1AA-4D7E21F42FA0}"/>
                </a:ext>
              </a:extLst>
            </p:cNvPr>
            <p:cNvSpPr/>
            <p:nvPr/>
          </p:nvSpPr>
          <p:spPr>
            <a:xfrm>
              <a:off x="225180" y="8607196"/>
              <a:ext cx="14668990" cy="9466082"/>
            </a:xfrm>
            <a:prstGeom prst="roundRect">
              <a:avLst>
                <a:gd name="adj" fmla="val 1988"/>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_tradnl" sz="2400" i="1" dirty="0">
                <a:solidFill>
                  <a:schemeClr val="tx1"/>
                </a:solidFill>
              </a:endParaRPr>
            </a:p>
          </p:txBody>
        </p:sp>
        <p:sp>
          <p:nvSpPr>
            <p:cNvPr id="17" name="Rectángulo redondeado 16">
              <a:extLst>
                <a:ext uri="{FF2B5EF4-FFF2-40B4-BE49-F238E27FC236}">
                  <a16:creationId xmlns:a16="http://schemas.microsoft.com/office/drawing/2014/main" id="{D2CE81C2-DE7D-86C0-BE63-0B1C502B9BDA}"/>
                </a:ext>
              </a:extLst>
            </p:cNvPr>
            <p:cNvSpPr/>
            <p:nvPr/>
          </p:nvSpPr>
          <p:spPr>
            <a:xfrm>
              <a:off x="518258" y="8290675"/>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RESULTADOS</a:t>
              </a:r>
            </a:p>
          </p:txBody>
        </p:sp>
      </p:grpSp>
      <p:pic>
        <p:nvPicPr>
          <p:cNvPr id="1028" name="Picture 4">
            <a:extLst>
              <a:ext uri="{FF2B5EF4-FFF2-40B4-BE49-F238E27FC236}">
                <a16:creationId xmlns:a16="http://schemas.microsoft.com/office/drawing/2014/main" id="{D59CAA55-5763-DE38-517F-B4583DC84A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50767" y="-95516"/>
            <a:ext cx="2325820" cy="140089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upo 17">
            <a:extLst>
              <a:ext uri="{FF2B5EF4-FFF2-40B4-BE49-F238E27FC236}">
                <a16:creationId xmlns:a16="http://schemas.microsoft.com/office/drawing/2014/main" id="{7943CC5D-1654-184E-A7EC-A76F98FA9E8B}"/>
              </a:ext>
            </a:extLst>
          </p:cNvPr>
          <p:cNvGrpSpPr>
            <a:grpSpLocks noChangeAspect="1"/>
          </p:cNvGrpSpPr>
          <p:nvPr/>
        </p:nvGrpSpPr>
        <p:grpSpPr>
          <a:xfrm>
            <a:off x="0" y="-5895"/>
            <a:ext cx="3397496" cy="2303046"/>
            <a:chOff x="0" y="-5895"/>
            <a:chExt cx="4834200" cy="3276938"/>
          </a:xfrm>
        </p:grpSpPr>
        <p:pic>
          <p:nvPicPr>
            <p:cNvPr id="5" name="Imagen 4">
              <a:extLst>
                <a:ext uri="{FF2B5EF4-FFF2-40B4-BE49-F238E27FC236}">
                  <a16:creationId xmlns:a16="http://schemas.microsoft.com/office/drawing/2014/main" id="{7E5760BA-D4D0-7C9E-76ED-065ED11398EB}"/>
                </a:ext>
              </a:extLst>
            </p:cNvPr>
            <p:cNvPicPr>
              <a:picLocks noChangeAspect="1"/>
            </p:cNvPicPr>
            <p:nvPr/>
          </p:nvPicPr>
          <p:blipFill>
            <a:blip r:embed="rId3"/>
            <a:stretch>
              <a:fillRect/>
            </a:stretch>
          </p:blipFill>
          <p:spPr>
            <a:xfrm>
              <a:off x="0" y="-5895"/>
              <a:ext cx="4834200" cy="3276938"/>
            </a:xfrm>
            <a:prstGeom prst="rect">
              <a:avLst/>
            </a:prstGeom>
          </p:spPr>
        </p:pic>
        <p:sp>
          <p:nvSpPr>
            <p:cNvPr id="2" name="Rectángulo 1">
              <a:extLst>
                <a:ext uri="{FF2B5EF4-FFF2-40B4-BE49-F238E27FC236}">
                  <a16:creationId xmlns:a16="http://schemas.microsoft.com/office/drawing/2014/main" id="{4D86C97A-A2AB-20A7-3EB2-1F46C5416136}"/>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3" name="Rectángulo redondeado 2">
            <a:extLst>
              <a:ext uri="{FF2B5EF4-FFF2-40B4-BE49-F238E27FC236}">
                <a16:creationId xmlns:a16="http://schemas.microsoft.com/office/drawing/2014/main" id="{70138B42-E335-E05D-E193-37141538289E}"/>
              </a:ext>
            </a:extLst>
          </p:cNvPr>
          <p:cNvSpPr/>
          <p:nvPr/>
        </p:nvSpPr>
        <p:spPr>
          <a:xfrm>
            <a:off x="677954" y="1198761"/>
            <a:ext cx="13763441" cy="2243926"/>
          </a:xfrm>
          <a:prstGeom prst="roundRect">
            <a:avLst>
              <a:gd name="adj" fmla="val 9702"/>
            </a:avLst>
          </a:prstGeom>
          <a:solidFill>
            <a:srgbClr val="4196C9"/>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ctr"/>
          <a:lstStyle/>
          <a:p>
            <a:pPr algn="ctr"/>
            <a:r>
              <a:rPr lang="es-ES" sz="3200" b="1" dirty="0">
                <a:solidFill>
                  <a:schemeClr val="bg1"/>
                </a:solidFill>
              </a:rPr>
              <a:t>Proyecto Transversal en R (I): Análisis de bioestadística aplicada a la expresión génica en Los Simpson</a:t>
            </a:r>
            <a:endParaRPr lang="es-ES_tradnl" sz="3600" b="1" dirty="0">
              <a:solidFill>
                <a:schemeClr val="bg1"/>
              </a:solidFill>
            </a:endParaRPr>
          </a:p>
          <a:p>
            <a:pPr algn="ctr">
              <a:lnSpc>
                <a:spcPct val="80000"/>
              </a:lnSpc>
            </a:pPr>
            <a:r>
              <a:rPr lang="es-ES" sz="2400" b="1" i="1" dirty="0">
                <a:solidFill>
                  <a:schemeClr val="bg1"/>
                </a:solidFill>
              </a:rPr>
              <a:t>Estadística y R para Ciencias de la Salud</a:t>
            </a:r>
            <a:endParaRPr lang="es-ES_tradnl" sz="3200" b="1" i="1" dirty="0">
              <a:solidFill>
                <a:schemeClr val="bg1"/>
              </a:solidFill>
            </a:endParaRPr>
          </a:p>
          <a:p>
            <a:pPr algn="ctr">
              <a:lnSpc>
                <a:spcPct val="80000"/>
              </a:lnSpc>
            </a:pPr>
            <a:r>
              <a:rPr lang="es-ES_tradnl" b="1" i="1" dirty="0">
                <a:solidFill>
                  <a:schemeClr val="bg1"/>
                </a:solidFill>
              </a:rPr>
              <a:t>Paula Sánchez Álvarez, Lidia Conde Matos, Lucía Martínez Garrido, Marina </a:t>
            </a:r>
            <a:r>
              <a:rPr lang="es-ES_tradnl" b="1" i="1" dirty="0" err="1">
                <a:solidFill>
                  <a:schemeClr val="bg1"/>
                </a:solidFill>
              </a:rPr>
              <a:t>Monzo</a:t>
            </a:r>
            <a:r>
              <a:rPr lang="es-ES_tradnl" b="1" i="1" dirty="0">
                <a:solidFill>
                  <a:schemeClr val="bg1"/>
                </a:solidFill>
              </a:rPr>
              <a:t> Gallego, </a:t>
            </a:r>
            <a:r>
              <a:rPr lang="es-ES_tradnl" b="1" i="1" dirty="0" err="1">
                <a:solidFill>
                  <a:schemeClr val="bg1"/>
                </a:solidFill>
              </a:rPr>
              <a:t>Maria</a:t>
            </a:r>
            <a:r>
              <a:rPr lang="es-ES_tradnl" b="1" i="1" dirty="0">
                <a:solidFill>
                  <a:schemeClr val="bg1"/>
                </a:solidFill>
              </a:rPr>
              <a:t> Elena Martínez Garrido, Miguel Grande </a:t>
            </a:r>
            <a:r>
              <a:rPr lang="es-ES_tradnl" b="1" i="1" dirty="0" err="1">
                <a:solidFill>
                  <a:schemeClr val="bg1"/>
                </a:solidFill>
              </a:rPr>
              <a:t>Falceto</a:t>
            </a:r>
            <a:r>
              <a:rPr lang="es-ES_tradnl" b="1" i="1" dirty="0">
                <a:solidFill>
                  <a:schemeClr val="bg1"/>
                </a:solidFill>
              </a:rPr>
              <a:t>, Nuria Fernández Pérez</a:t>
            </a:r>
          </a:p>
        </p:txBody>
      </p:sp>
      <p:grpSp>
        <p:nvGrpSpPr>
          <p:cNvPr id="33" name="Grupo 32">
            <a:extLst>
              <a:ext uri="{FF2B5EF4-FFF2-40B4-BE49-F238E27FC236}">
                <a16:creationId xmlns:a16="http://schemas.microsoft.com/office/drawing/2014/main" id="{2C6C9477-586D-D4FB-ADEE-063D77B3A812}"/>
              </a:ext>
            </a:extLst>
          </p:cNvPr>
          <p:cNvGrpSpPr/>
          <p:nvPr/>
        </p:nvGrpSpPr>
        <p:grpSpPr>
          <a:xfrm>
            <a:off x="225180" y="16885602"/>
            <a:ext cx="9095801" cy="4262829"/>
            <a:chOff x="225181" y="17303689"/>
            <a:chExt cx="9095800" cy="3844742"/>
          </a:xfrm>
        </p:grpSpPr>
        <p:sp>
          <p:nvSpPr>
            <p:cNvPr id="34" name="Rectángulo redondeado 33">
              <a:extLst>
                <a:ext uri="{FF2B5EF4-FFF2-40B4-BE49-F238E27FC236}">
                  <a16:creationId xmlns:a16="http://schemas.microsoft.com/office/drawing/2014/main" id="{1B34C5B1-3A9B-391B-803D-711026F44639}"/>
                </a:ext>
              </a:extLst>
            </p:cNvPr>
            <p:cNvSpPr/>
            <p:nvPr/>
          </p:nvSpPr>
          <p:spPr>
            <a:xfrm>
              <a:off x="225181" y="17620211"/>
              <a:ext cx="9095800"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 i="1" dirty="0">
                  <a:solidFill>
                    <a:schemeClr val="tx1"/>
                  </a:solidFill>
                </a:rPr>
                <a:t>La arquitectura genética de la muestra es altamente compleja y no depende de un solo gen, sino de redes biológicas coordinadas, principalmente el Eje </a:t>
              </a:r>
              <a:r>
                <a:rPr lang="es-ES" i="1" dirty="0" err="1">
                  <a:solidFill>
                    <a:schemeClr val="tx1"/>
                  </a:solidFill>
                </a:rPr>
                <a:t>Leptina-Melanocortina</a:t>
              </a:r>
              <a:r>
                <a:rPr lang="es-ES" i="1" dirty="0">
                  <a:solidFill>
                    <a:schemeClr val="tx1"/>
                  </a:solidFill>
                </a:rPr>
                <a:t> (PC1) y la Plasticidad Neuronal (PC2). A través del PCA y el </a:t>
              </a:r>
              <a:r>
                <a:rPr lang="es-ES" i="1" dirty="0" err="1">
                  <a:solidFill>
                    <a:schemeClr val="tx1"/>
                  </a:solidFill>
                </a:rPr>
                <a:t>clustering</a:t>
              </a:r>
              <a:r>
                <a:rPr lang="es-ES" i="1" dirty="0">
                  <a:solidFill>
                    <a:schemeClr val="tx1"/>
                  </a:solidFill>
                </a:rPr>
                <a:t>, se identificaron genes críticos como POMC, ADCY3, LEPR y NTRK2 como los principales impulsores de la variabilidad biológica. Mientras que el PC1 actúa como un marcador de riesgo donde los individuos con obesidad presentan valores extremos, el PC2 vincula la conectividad neuronal con el IMC. El mapa de calor y el análisis por </a:t>
              </a:r>
              <a:r>
                <a:rPr lang="es-ES" i="1" dirty="0" err="1">
                  <a:solidFill>
                    <a:schemeClr val="tx1"/>
                  </a:solidFill>
                </a:rPr>
                <a:t>terciles</a:t>
              </a:r>
              <a:r>
                <a:rPr lang="es-ES" i="1" dirty="0">
                  <a:solidFill>
                    <a:schemeClr val="tx1"/>
                  </a:solidFill>
                </a:rPr>
                <a:t> confirman que estas agrupaciones no son aleatorias, sino que responden a patrones de expresión significativamente distintos. No obstante, la regresión logística no halló una asociación significativa con la obesidad clínica. Esta discrepancia sugiere que, aunque existen perfiles genéticos diferenciados y vinculados al eje neuroendocrino, el tamaño </a:t>
              </a:r>
              <a:r>
                <a:rPr lang="es-ES" i="1" dirty="0" err="1">
                  <a:solidFill>
                    <a:schemeClr val="tx1"/>
                  </a:solidFill>
                </a:rPr>
                <a:t>muestral</a:t>
              </a:r>
              <a:r>
                <a:rPr lang="es-ES" i="1" dirty="0">
                  <a:solidFill>
                    <a:schemeClr val="tx1"/>
                  </a:solidFill>
                </a:rPr>
                <a:t> limitado y la baja prevalencia de casos impiden una predicción robusta, subrayando la necesidad de ampliar el estudio para validar estos </a:t>
              </a:r>
              <a:r>
                <a:rPr lang="es-ES" i="1" dirty="0" err="1">
                  <a:solidFill>
                    <a:schemeClr val="tx1"/>
                  </a:solidFill>
                </a:rPr>
                <a:t>biomarcadores</a:t>
              </a:r>
              <a:r>
                <a:rPr lang="es-ES" i="1" dirty="0">
                  <a:solidFill>
                    <a:schemeClr val="tx1"/>
                  </a:solidFill>
                </a:rPr>
                <a:t>.</a:t>
              </a:r>
              <a:endParaRPr lang="es-ES_tradnl" sz="2400" i="1" dirty="0">
                <a:solidFill>
                  <a:schemeClr val="tx1"/>
                </a:solidFill>
              </a:endParaRPr>
            </a:p>
          </p:txBody>
        </p:sp>
        <p:sp>
          <p:nvSpPr>
            <p:cNvPr id="35" name="Rectángulo redondeado 34">
              <a:extLst>
                <a:ext uri="{FF2B5EF4-FFF2-40B4-BE49-F238E27FC236}">
                  <a16:creationId xmlns:a16="http://schemas.microsoft.com/office/drawing/2014/main" id="{3BC039B6-C9D2-02F3-8F27-C85043A7CC84}"/>
                </a:ext>
              </a:extLst>
            </p:cNvPr>
            <p:cNvSpPr/>
            <p:nvPr/>
          </p:nvSpPr>
          <p:spPr>
            <a:xfrm>
              <a:off x="518258"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DISCUSIÓN</a:t>
              </a:r>
            </a:p>
          </p:txBody>
        </p:sp>
      </p:grpSp>
      <p:grpSp>
        <p:nvGrpSpPr>
          <p:cNvPr id="36" name="Grupo 35">
            <a:extLst>
              <a:ext uri="{FF2B5EF4-FFF2-40B4-BE49-F238E27FC236}">
                <a16:creationId xmlns:a16="http://schemas.microsoft.com/office/drawing/2014/main" id="{7CDA7380-1384-C476-FC20-7A4A09E7B7FE}"/>
              </a:ext>
            </a:extLst>
          </p:cNvPr>
          <p:cNvGrpSpPr/>
          <p:nvPr/>
        </p:nvGrpSpPr>
        <p:grpSpPr>
          <a:xfrm>
            <a:off x="9509873" y="16990349"/>
            <a:ext cx="5366712" cy="4158081"/>
            <a:chOff x="7784856" y="17303689"/>
            <a:chExt cx="7109314" cy="3844742"/>
          </a:xfrm>
        </p:grpSpPr>
        <p:sp>
          <p:nvSpPr>
            <p:cNvPr id="37" name="Rectángulo redondeado 36">
              <a:extLst>
                <a:ext uri="{FF2B5EF4-FFF2-40B4-BE49-F238E27FC236}">
                  <a16:creationId xmlns:a16="http://schemas.microsoft.com/office/drawing/2014/main" id="{367F38DE-6476-4ED5-51AD-7070BD6A603F}"/>
                </a:ext>
              </a:extLst>
            </p:cNvPr>
            <p:cNvSpPr/>
            <p:nvPr/>
          </p:nvSpPr>
          <p:spPr>
            <a:xfrm>
              <a:off x="7784856" y="17620211"/>
              <a:ext cx="7109314"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marL="342900" indent="-342900" algn="just">
                <a:lnSpc>
                  <a:spcPct val="80000"/>
                </a:lnSpc>
                <a:buFont typeface="Arial" panose="020B0604020202020204" pitchFamily="34" charset="0"/>
                <a:buChar char="•"/>
              </a:pPr>
              <a:r>
                <a:rPr lang="es-ES" i="1" dirty="0">
                  <a:solidFill>
                    <a:schemeClr val="tx1"/>
                  </a:solidFill>
                </a:rPr>
                <a:t>La variabilidad biológica de la muestra está dirigida por redes genéticas coordinadas, destacando el Eje Leptina-Melanocortina (PC1) y la Plasticidad Neuronal (PC2)</a:t>
              </a:r>
            </a:p>
            <a:p>
              <a:pPr marL="342900" indent="-342900" algn="just">
                <a:lnSpc>
                  <a:spcPct val="80000"/>
                </a:lnSpc>
                <a:buFont typeface="Arial" panose="020B0604020202020204" pitchFamily="34" charset="0"/>
                <a:buChar char="•"/>
              </a:pPr>
              <a:r>
                <a:rPr lang="es-ES" i="1" dirty="0">
                  <a:solidFill>
                    <a:schemeClr val="tx1"/>
                  </a:solidFill>
                </a:rPr>
                <a:t>Se identificaron genes críticos como POMC, ADCY3, LEPR y NTRK2 como los principales biomarcadores de riesgo asociados a valores extremos de IMC.</a:t>
              </a:r>
            </a:p>
            <a:p>
              <a:pPr marL="342900" indent="-342900" algn="just">
                <a:lnSpc>
                  <a:spcPct val="80000"/>
                </a:lnSpc>
                <a:buFont typeface="Arial" panose="020B0604020202020204" pitchFamily="34" charset="0"/>
                <a:buChar char="•"/>
              </a:pPr>
              <a:r>
                <a:rPr lang="es-ES" i="1" dirty="0">
                  <a:solidFill>
                    <a:schemeClr val="tx1"/>
                  </a:solidFill>
                </a:rPr>
                <a:t>Aunque existen perfiles neuroendocrinos diferenciados, la falta de significación en la regresión logística sugiere la necesidad de ampliar el tamaño muestral para validar estos hallazgos en la predicción de la obesidad clínica.</a:t>
              </a:r>
            </a:p>
            <a:p>
              <a:pPr marL="342900" indent="-342900" algn="just">
                <a:lnSpc>
                  <a:spcPct val="80000"/>
                </a:lnSpc>
                <a:buFont typeface="Arial" panose="020B0604020202020204" pitchFamily="34" charset="0"/>
                <a:buChar char="•"/>
              </a:pPr>
              <a:endParaRPr lang="es-ES_tradnl" i="1" dirty="0">
                <a:solidFill>
                  <a:schemeClr val="tx1"/>
                </a:solidFill>
              </a:endParaRPr>
            </a:p>
          </p:txBody>
        </p:sp>
        <p:sp>
          <p:nvSpPr>
            <p:cNvPr id="38" name="Rectángulo redondeado 37">
              <a:extLst>
                <a:ext uri="{FF2B5EF4-FFF2-40B4-BE49-F238E27FC236}">
                  <a16:creationId xmlns:a16="http://schemas.microsoft.com/office/drawing/2014/main" id="{0757AA33-190F-8E74-0CAC-D7C442BACE75}"/>
                </a:ext>
              </a:extLst>
            </p:cNvPr>
            <p:cNvSpPr/>
            <p:nvPr/>
          </p:nvSpPr>
          <p:spPr>
            <a:xfrm>
              <a:off x="8077933"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CONCLUSIONES</a:t>
              </a:r>
            </a:p>
          </p:txBody>
        </p:sp>
      </p:grpSp>
      <p:sp>
        <p:nvSpPr>
          <p:cNvPr id="39" name="Rectángulo redondeado 38">
            <a:extLst>
              <a:ext uri="{FF2B5EF4-FFF2-40B4-BE49-F238E27FC236}">
                <a16:creationId xmlns:a16="http://schemas.microsoft.com/office/drawing/2014/main" id="{05ACB882-C17A-7163-5754-50C1DB29AA22}"/>
              </a:ext>
            </a:extLst>
          </p:cNvPr>
          <p:cNvSpPr/>
          <p:nvPr/>
        </p:nvSpPr>
        <p:spPr>
          <a:xfrm>
            <a:off x="500673" y="8127402"/>
            <a:ext cx="705900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1. </a:t>
            </a:r>
            <a:r>
              <a:rPr kumimoji="0" lang="es-ES" sz="1800" b="0" i="0" u="none" strike="noStrike" kern="1200" cap="none" spc="0" normalizeH="0" baseline="0" noProof="0" dirty="0">
                <a:ln>
                  <a:noFill/>
                </a:ln>
                <a:solidFill>
                  <a:prstClr val="black"/>
                </a:solidFill>
                <a:effectLst/>
                <a:uLnTx/>
                <a:uFillTx/>
                <a:latin typeface="Aptos" panose="02110004020202020204"/>
                <a:ea typeface="+mn-ea"/>
                <a:cs typeface="+mn-cs"/>
              </a:rPr>
              <a:t>Distribución de individuos en las dos primeras componentes principales (PCA) coloreados por categoría de IMC.</a:t>
            </a:r>
            <a:endPar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0" name="Rectángulo redondeado 39">
            <a:extLst>
              <a:ext uri="{FF2B5EF4-FFF2-40B4-BE49-F238E27FC236}">
                <a16:creationId xmlns:a16="http://schemas.microsoft.com/office/drawing/2014/main" id="{3F03464F-6AD8-145A-F4F0-58880920BB73}"/>
              </a:ext>
            </a:extLst>
          </p:cNvPr>
          <p:cNvSpPr/>
          <p:nvPr/>
        </p:nvSpPr>
        <p:spPr>
          <a:xfrm>
            <a:off x="500673" y="12467799"/>
            <a:ext cx="705900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2. </a:t>
            </a:r>
            <a:r>
              <a:rPr kumimoji="0" lang="es-ES" sz="1800" b="0" i="0" u="none" strike="noStrike" kern="1200" cap="none" spc="0" normalizeH="0" baseline="0" noProof="0" dirty="0" err="1">
                <a:ln>
                  <a:noFill/>
                </a:ln>
                <a:solidFill>
                  <a:prstClr val="black"/>
                </a:solidFill>
                <a:effectLst/>
                <a:uLnTx/>
                <a:uFillTx/>
                <a:latin typeface="Aptos" panose="02110004020202020204"/>
                <a:ea typeface="+mn-ea"/>
                <a:cs typeface="+mn-cs"/>
              </a:rPr>
              <a:t>Clustering</a:t>
            </a:r>
            <a:r>
              <a:rPr kumimoji="0" lang="es-ES" sz="1800" b="0" i="0" u="none" strike="noStrike" kern="1200" cap="none" spc="0" normalizeH="0" baseline="0" noProof="0" dirty="0">
                <a:ln>
                  <a:noFill/>
                </a:ln>
                <a:solidFill>
                  <a:prstClr val="black"/>
                </a:solidFill>
                <a:effectLst/>
                <a:uLnTx/>
                <a:uFillTx/>
                <a:latin typeface="Aptos" panose="02110004020202020204"/>
                <a:ea typeface="+mn-ea"/>
                <a:cs typeface="+mn-cs"/>
              </a:rPr>
              <a:t> de las variables génicas basada en sus coordenadas en el análisis de componentes principales.</a:t>
            </a:r>
            <a:endPar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1" name="Rectángulo redondeado 40">
            <a:extLst>
              <a:ext uri="{FF2B5EF4-FFF2-40B4-BE49-F238E27FC236}">
                <a16:creationId xmlns:a16="http://schemas.microsoft.com/office/drawing/2014/main" id="{A5674FB9-8324-DF2F-A950-34B0495EFB78}"/>
              </a:ext>
            </a:extLst>
          </p:cNvPr>
          <p:cNvSpPr/>
          <p:nvPr/>
        </p:nvSpPr>
        <p:spPr>
          <a:xfrm>
            <a:off x="7688629" y="8127402"/>
            <a:ext cx="705900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3. </a:t>
            </a:r>
            <a:r>
              <a:rPr kumimoji="0" lang="es-ES" sz="1800" b="0" i="0" u="none" strike="noStrike" kern="1200" cap="none" spc="0" normalizeH="0" baseline="0" noProof="0" dirty="0" err="1">
                <a:ln>
                  <a:noFill/>
                </a:ln>
                <a:solidFill>
                  <a:prstClr val="black"/>
                </a:solidFill>
                <a:effectLst/>
                <a:uLnTx/>
                <a:uFillTx/>
                <a:latin typeface="Aptos" panose="02110004020202020204"/>
                <a:ea typeface="+mn-ea"/>
                <a:cs typeface="+mn-cs"/>
              </a:rPr>
              <a:t>Heatmap</a:t>
            </a:r>
            <a:r>
              <a:rPr kumimoji="0" lang="es-ES" sz="1800" b="0" i="0" u="none" strike="noStrike" kern="1200" cap="none" spc="0" normalizeH="0" baseline="0" noProof="0" dirty="0">
                <a:ln>
                  <a:noFill/>
                </a:ln>
                <a:solidFill>
                  <a:prstClr val="black"/>
                </a:solidFill>
                <a:effectLst/>
                <a:uLnTx/>
                <a:uFillTx/>
                <a:latin typeface="Aptos" panose="02110004020202020204"/>
                <a:ea typeface="+mn-ea"/>
                <a:cs typeface="+mn-cs"/>
              </a:rPr>
              <a:t> de las correlaciones de Spearman entre las variables génicas y las componentes principales.</a:t>
            </a:r>
            <a:endPar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10" name="Imagen 9">
            <a:extLst>
              <a:ext uri="{FF2B5EF4-FFF2-40B4-BE49-F238E27FC236}">
                <a16:creationId xmlns:a16="http://schemas.microsoft.com/office/drawing/2014/main" id="{8A183F86-D7DD-502A-D747-5A5FBDC1239E}"/>
              </a:ext>
            </a:extLst>
          </p:cNvPr>
          <p:cNvPicPr>
            <a:picLocks noChangeAspect="1"/>
          </p:cNvPicPr>
          <p:nvPr/>
        </p:nvPicPr>
        <p:blipFill>
          <a:blip r:embed="rId4"/>
          <a:stretch>
            <a:fillRect/>
          </a:stretch>
        </p:blipFill>
        <p:spPr>
          <a:xfrm>
            <a:off x="1819085" y="8871758"/>
            <a:ext cx="3970783" cy="3403528"/>
          </a:xfrm>
          <a:prstGeom prst="rect">
            <a:avLst/>
          </a:prstGeom>
        </p:spPr>
      </p:pic>
      <p:pic>
        <p:nvPicPr>
          <p:cNvPr id="11" name="Imagen 10">
            <a:extLst>
              <a:ext uri="{FF2B5EF4-FFF2-40B4-BE49-F238E27FC236}">
                <a16:creationId xmlns:a16="http://schemas.microsoft.com/office/drawing/2014/main" id="{8A8E1970-B66C-7036-7EB4-94101F925FF7}"/>
              </a:ext>
            </a:extLst>
          </p:cNvPr>
          <p:cNvPicPr>
            <a:picLocks noChangeAspect="1"/>
          </p:cNvPicPr>
          <p:nvPr/>
        </p:nvPicPr>
        <p:blipFill>
          <a:blip r:embed="rId5"/>
          <a:stretch>
            <a:fillRect/>
          </a:stretch>
        </p:blipFill>
        <p:spPr>
          <a:xfrm>
            <a:off x="8884889" y="9247101"/>
            <a:ext cx="5291234" cy="5879149"/>
          </a:xfrm>
          <a:prstGeom prst="rect">
            <a:avLst/>
          </a:prstGeom>
        </p:spPr>
      </p:pic>
      <p:pic>
        <p:nvPicPr>
          <p:cNvPr id="12" name="Imagen 11">
            <a:extLst>
              <a:ext uri="{FF2B5EF4-FFF2-40B4-BE49-F238E27FC236}">
                <a16:creationId xmlns:a16="http://schemas.microsoft.com/office/drawing/2014/main" id="{F63E81AC-6E62-3552-B12E-B7CFBD3B9621}"/>
              </a:ext>
            </a:extLst>
          </p:cNvPr>
          <p:cNvPicPr>
            <a:picLocks noChangeAspect="1"/>
          </p:cNvPicPr>
          <p:nvPr/>
        </p:nvPicPr>
        <p:blipFill>
          <a:blip r:embed="rId6"/>
          <a:stretch>
            <a:fillRect/>
          </a:stretch>
        </p:blipFill>
        <p:spPr>
          <a:xfrm>
            <a:off x="1971316" y="13183981"/>
            <a:ext cx="3970783" cy="3403528"/>
          </a:xfrm>
          <a:prstGeom prst="rect">
            <a:avLst/>
          </a:prstGeom>
        </p:spPr>
      </p:pic>
    </p:spTree>
    <p:extLst>
      <p:ext uri="{BB962C8B-B14F-4D97-AF65-F5344CB8AC3E}">
        <p14:creationId xmlns:p14="http://schemas.microsoft.com/office/powerpoint/2010/main" val="4045999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3CFC6D78-4336-6694-80D8-E4D16D1898C8}"/>
              </a:ext>
            </a:extLst>
          </p:cNvPr>
          <p:cNvPicPr>
            <a:picLocks noChangeAspect="1"/>
          </p:cNvPicPr>
          <p:nvPr/>
        </p:nvPicPr>
        <p:blipFill>
          <a:blip r:embed="rId2"/>
          <a:stretch>
            <a:fillRect/>
          </a:stretch>
        </p:blipFill>
        <p:spPr>
          <a:xfrm>
            <a:off x="519632" y="4000859"/>
            <a:ext cx="6400800" cy="5486400"/>
          </a:xfrm>
          <a:prstGeom prst="rect">
            <a:avLst/>
          </a:prstGeom>
        </p:spPr>
      </p:pic>
      <p:pic>
        <p:nvPicPr>
          <p:cNvPr id="6" name="Imagen 5">
            <a:extLst>
              <a:ext uri="{FF2B5EF4-FFF2-40B4-BE49-F238E27FC236}">
                <a16:creationId xmlns:a16="http://schemas.microsoft.com/office/drawing/2014/main" id="{A49C31BE-A109-546F-614D-2A663828D2C4}"/>
              </a:ext>
            </a:extLst>
          </p:cNvPr>
          <p:cNvPicPr>
            <a:picLocks noChangeAspect="1"/>
          </p:cNvPicPr>
          <p:nvPr/>
        </p:nvPicPr>
        <p:blipFill>
          <a:blip r:embed="rId3"/>
          <a:stretch>
            <a:fillRect/>
          </a:stretch>
        </p:blipFill>
        <p:spPr>
          <a:xfrm>
            <a:off x="7559675" y="3857875"/>
            <a:ext cx="6400800" cy="5486400"/>
          </a:xfrm>
          <a:prstGeom prst="rect">
            <a:avLst/>
          </a:prstGeom>
        </p:spPr>
      </p:pic>
      <p:pic>
        <p:nvPicPr>
          <p:cNvPr id="7" name="Imagen 6">
            <a:extLst>
              <a:ext uri="{FF2B5EF4-FFF2-40B4-BE49-F238E27FC236}">
                <a16:creationId xmlns:a16="http://schemas.microsoft.com/office/drawing/2014/main" id="{E9F0C673-0ED0-39C2-3E67-226314319BAF}"/>
              </a:ext>
            </a:extLst>
          </p:cNvPr>
          <p:cNvPicPr>
            <a:picLocks noChangeAspect="1"/>
          </p:cNvPicPr>
          <p:nvPr/>
        </p:nvPicPr>
        <p:blipFill>
          <a:blip r:embed="rId4"/>
          <a:stretch>
            <a:fillRect/>
          </a:stretch>
        </p:blipFill>
        <p:spPr>
          <a:xfrm>
            <a:off x="519632" y="9921791"/>
            <a:ext cx="6400800" cy="5486400"/>
          </a:xfrm>
          <a:prstGeom prst="rect">
            <a:avLst/>
          </a:prstGeom>
        </p:spPr>
      </p:pic>
      <p:pic>
        <p:nvPicPr>
          <p:cNvPr id="8" name="Imagen 7">
            <a:extLst>
              <a:ext uri="{FF2B5EF4-FFF2-40B4-BE49-F238E27FC236}">
                <a16:creationId xmlns:a16="http://schemas.microsoft.com/office/drawing/2014/main" id="{8C19C126-68B2-C4D8-72A4-5D649CDE29C2}"/>
              </a:ext>
            </a:extLst>
          </p:cNvPr>
          <p:cNvPicPr>
            <a:picLocks noChangeAspect="1"/>
          </p:cNvPicPr>
          <p:nvPr/>
        </p:nvPicPr>
        <p:blipFill>
          <a:blip r:embed="rId5"/>
          <a:stretch>
            <a:fillRect/>
          </a:stretch>
        </p:blipFill>
        <p:spPr>
          <a:xfrm>
            <a:off x="7696032" y="9600948"/>
            <a:ext cx="6400800" cy="5486400"/>
          </a:xfrm>
          <a:prstGeom prst="rect">
            <a:avLst/>
          </a:prstGeom>
        </p:spPr>
      </p:pic>
      <p:pic>
        <p:nvPicPr>
          <p:cNvPr id="9" name="Imagen 8">
            <a:extLst>
              <a:ext uri="{FF2B5EF4-FFF2-40B4-BE49-F238E27FC236}">
                <a16:creationId xmlns:a16="http://schemas.microsoft.com/office/drawing/2014/main" id="{1CB39942-B5D9-5E96-BAD1-ED75E98C5E85}"/>
              </a:ext>
            </a:extLst>
          </p:cNvPr>
          <p:cNvPicPr>
            <a:picLocks noChangeAspect="1"/>
          </p:cNvPicPr>
          <p:nvPr/>
        </p:nvPicPr>
        <p:blipFill>
          <a:blip r:embed="rId6"/>
          <a:stretch>
            <a:fillRect/>
          </a:stretch>
        </p:blipFill>
        <p:spPr>
          <a:xfrm>
            <a:off x="499411" y="15408191"/>
            <a:ext cx="6400800" cy="5486400"/>
          </a:xfrm>
          <a:prstGeom prst="rect">
            <a:avLst/>
          </a:prstGeom>
        </p:spPr>
      </p:pic>
    </p:spTree>
    <p:extLst>
      <p:ext uri="{BB962C8B-B14F-4D97-AF65-F5344CB8AC3E}">
        <p14:creationId xmlns:p14="http://schemas.microsoft.com/office/powerpoint/2010/main" val="1137563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D4177D0B-7FAF-B0E1-A6AE-38A30851ABEF}"/>
              </a:ext>
            </a:extLst>
          </p:cNvPr>
          <p:cNvPicPr>
            <a:picLocks noChangeAspect="1"/>
          </p:cNvPicPr>
          <p:nvPr/>
        </p:nvPicPr>
        <p:blipFill>
          <a:blip r:embed="rId2"/>
          <a:stretch>
            <a:fillRect/>
          </a:stretch>
        </p:blipFill>
        <p:spPr>
          <a:xfrm>
            <a:off x="716011" y="521118"/>
            <a:ext cx="8229600" cy="9144000"/>
          </a:xfrm>
          <a:prstGeom prst="rect">
            <a:avLst/>
          </a:prstGeom>
        </p:spPr>
      </p:pic>
      <p:pic>
        <p:nvPicPr>
          <p:cNvPr id="5" name="Imagen 4">
            <a:extLst>
              <a:ext uri="{FF2B5EF4-FFF2-40B4-BE49-F238E27FC236}">
                <a16:creationId xmlns:a16="http://schemas.microsoft.com/office/drawing/2014/main" id="{DDEF7FBA-C52E-7C9A-B15E-84E0D7439927}"/>
              </a:ext>
            </a:extLst>
          </p:cNvPr>
          <p:cNvPicPr>
            <a:picLocks noChangeAspect="1"/>
          </p:cNvPicPr>
          <p:nvPr/>
        </p:nvPicPr>
        <p:blipFill>
          <a:blip r:embed="rId3"/>
          <a:stretch>
            <a:fillRect/>
          </a:stretch>
        </p:blipFill>
        <p:spPr>
          <a:xfrm>
            <a:off x="6485024" y="9665118"/>
            <a:ext cx="8229600" cy="9144000"/>
          </a:xfrm>
          <a:prstGeom prst="rect">
            <a:avLst/>
          </a:prstGeom>
        </p:spPr>
      </p:pic>
    </p:spTree>
    <p:extLst>
      <p:ext uri="{BB962C8B-B14F-4D97-AF65-F5344CB8AC3E}">
        <p14:creationId xmlns:p14="http://schemas.microsoft.com/office/powerpoint/2010/main" val="3436285063"/>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Flow_SignoffStatus xmlns="27c1adeb-3674-457c-b08c-8a73f31b6e23" xsi:nil="true"/>
    <lcf76f155ced4ddcb4097134ff3c332f xmlns="27c1adeb-3674-457c-b08c-8a73f31b6e23">
      <Terms xmlns="http://schemas.microsoft.com/office/infopath/2007/PartnerControls"/>
    </lcf76f155ced4ddcb4097134ff3c332f>
    <TaxCatchAll xmlns="0a70e875-3d35-4be2-921f-7117c31bab9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DF3D7C797EA12745A270EF30E38719B9" ma:contentTypeVersion="20" ma:contentTypeDescription="Crear nuevo documento." ma:contentTypeScope="" ma:versionID="98b23ce13f8ef13134c980882a27b8cc">
  <xsd:schema xmlns:xsd="http://www.w3.org/2001/XMLSchema" xmlns:xs="http://www.w3.org/2001/XMLSchema" xmlns:p="http://schemas.microsoft.com/office/2006/metadata/properties" xmlns:ns2="0a70e875-3d35-4be2-921f-7117c31bab9b" xmlns:ns3="27c1adeb-3674-457c-b08c-8a73f31b6e23" targetNamespace="http://schemas.microsoft.com/office/2006/metadata/properties" ma:root="true" ma:fieldsID="83d50475b18a8f95f7f8edf1c6caa3f2" ns2:_="" ns3:_="">
    <xsd:import namespace="0a70e875-3d35-4be2-921f-7117c31bab9b"/>
    <xsd:import namespace="27c1adeb-3674-457c-b08c-8a73f31b6e2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lcf76f155ced4ddcb4097134ff3c332f" minOccurs="0"/>
                <xsd:element ref="ns2:TaxCatchAll" minOccurs="0"/>
                <xsd:element ref="ns3:MediaServiceSearchProperties" minOccurs="0"/>
                <xsd:element ref="ns3:_Flow_SignoffStatus" minOccurs="0"/>
                <xsd:element ref="ns3:MediaServiceObjectDetectorVersion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70e875-3d35-4be2-921f-7117c31bab9b"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23" nillable="true" ma:displayName="Taxonomy Catch All Column" ma:hidden="true" ma:list="{c7f67346-78c9-4c4d-b954-8d350fdf60db}" ma:internalName="TaxCatchAll" ma:showField="CatchAllData" ma:web="0a70e875-3d35-4be2-921f-7117c31bab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7c1adeb-3674-457c-b08c-8a73f31b6e2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Etiquetas de imagen" ma:readOnly="false" ma:fieldId="{5cf76f15-5ced-4ddc-b409-7134ff3c332f}" ma:taxonomyMulti="true" ma:sspId="17631b59-e624-4eb7-963c-219f14f887a3"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_Flow_SignoffStatus" ma:index="25" nillable="true" ma:displayName="Estado de aprobación" ma:internalName="Estado_x0020_de_x0020_aprobaci_x00f3_n">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CFF8D81-72FC-452A-A72A-98522D59D5C9}">
  <ds:schemaRefs>
    <ds:schemaRef ds:uri="http://schemas.microsoft.com/office/2006/metadata/properties"/>
    <ds:schemaRef ds:uri="http://schemas.microsoft.com/office/infopath/2007/PartnerControls"/>
    <ds:schemaRef ds:uri="27c1adeb-3674-457c-b08c-8a73f31b6e23"/>
    <ds:schemaRef ds:uri="0a70e875-3d35-4be2-921f-7117c31bab9b"/>
  </ds:schemaRefs>
</ds:datastoreItem>
</file>

<file path=customXml/itemProps2.xml><?xml version="1.0" encoding="utf-8"?>
<ds:datastoreItem xmlns:ds="http://schemas.openxmlformats.org/officeDocument/2006/customXml" ds:itemID="{F0E4AC05-6E48-496A-9B4A-D9E0A45171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70e875-3d35-4be2-921f-7117c31bab9b"/>
    <ds:schemaRef ds:uri="27c1adeb-3674-457c-b08c-8a73f31b6e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FA9EA36-75B9-47E0-B3F6-D548E75A2A5A}">
  <ds:schemaRefs>
    <ds:schemaRef ds:uri="http://schemas.microsoft.com/sharepoint/v3/contenttype/forms"/>
  </ds:schemaRefs>
</ds:datastoreItem>
</file>

<file path=docMetadata/LabelInfo.xml><?xml version="1.0" encoding="utf-8"?>
<clbl:labelList xmlns:clbl="http://schemas.microsoft.com/office/2020/mipLabelMetadata">
  <clbl:label id="{0361ecad-3f61-4749-aa5c-87fde47ef9ad}" enabled="1" method="Privileged" siteId="{22c8b4a4-d926-43b2-bcc7-87b998590b47}" contentBits="0" removed="0"/>
</clbl:labelList>
</file>

<file path=docProps/app.xml><?xml version="1.0" encoding="utf-8"?>
<Properties xmlns="http://schemas.openxmlformats.org/officeDocument/2006/extended-properties" xmlns:vt="http://schemas.openxmlformats.org/officeDocument/2006/docPropsVTypes">
  <Template>Office Theme</Template>
  <TotalTime>172</TotalTime>
  <Words>523</Words>
  <Application>Microsoft Office PowerPoint</Application>
  <PresentationFormat>Custom</PresentationFormat>
  <Paragraphs>17</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Tema de Office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Victor  de la O Pascual</dc:creator>
  <cp:lastModifiedBy>lucia martinez  garrido</cp:lastModifiedBy>
  <cp:revision>24</cp:revision>
  <dcterms:created xsi:type="dcterms:W3CDTF">2025-04-21T10:03:24Z</dcterms:created>
  <dcterms:modified xsi:type="dcterms:W3CDTF">2026-01-25T17:33:18Z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0x010100DF3D7C797EA12745A270EF30E38719B9</vt:lpwstr>
  </property>
  <property fmtid="{D5CDD505-2E9C-101B-9397-08002B2CF9AE}" pid="3" name="MediaServiceImageTags">
    <vt:lpwstr/>
  </property>
</Properties>
</file>