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8" r:id="rId5"/>
    <p:sldId id="259" r:id="rId6"/>
    <p:sldId id="260" r:id="rId7"/>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11"/>
    <p:restoredTop sz="94703"/>
  </p:normalViewPr>
  <p:slideViewPr>
    <p:cSldViewPr snapToGrid="0">
      <p:cViewPr>
        <p:scale>
          <a:sx n="10" d="100"/>
          <a:sy n="10" d="100"/>
        </p:scale>
        <p:origin x="3052" y="6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25/01/2026</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Este estudio busca clasificar a los pacientes según su perfil de expresión génica y estado de obesidad mediante técnicas de reducción dimensional. Esta metodología permite identificar biomarcadores asociados al riesgo de obesidad, facilitando el desarrollo de estrategias diagnósticas personalizadas que optimicen el manejo clínico y la estratificación de la población.</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5" y="5300430"/>
            <a:ext cx="14668990" cy="1667244"/>
            <a:chOff x="207596" y="6110487"/>
            <a:chExt cx="14668990" cy="1997723"/>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668990" cy="168120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Se analizó la expresión de 37 genes en 59 pacientes mediante análisis de componentes principales (PCA) con escalado, obteniendo 6 componentes para reducción dimensional. Se evaluó la normalidad con Shapiro-Wilk, se realizó </a:t>
              </a:r>
              <a:r>
                <a:rPr lang="es-ES" i="1" dirty="0" err="1">
                  <a:solidFill>
                    <a:schemeClr val="tx1"/>
                  </a:solidFill>
                </a:rPr>
                <a:t>clustering</a:t>
              </a:r>
              <a:r>
                <a:rPr lang="es-ES" i="1" dirty="0">
                  <a:solidFill>
                    <a:schemeClr val="tx1"/>
                  </a:solidFill>
                </a:rPr>
                <a:t> (k=3) y </a:t>
              </a:r>
              <a:r>
                <a:rPr lang="es-ES" i="1" dirty="0" err="1">
                  <a:solidFill>
                    <a:schemeClr val="tx1"/>
                  </a:solidFill>
                </a:rPr>
                <a:t>heatmaps</a:t>
              </a:r>
              <a:r>
                <a:rPr lang="es-ES" i="1" dirty="0">
                  <a:solidFill>
                    <a:schemeClr val="tx1"/>
                  </a:solidFill>
                </a:rPr>
                <a:t> de correlación. El análisis incluyó estadística descriptiva estratificada por </a:t>
              </a:r>
              <a:r>
                <a:rPr lang="es-ES" i="1" dirty="0" err="1">
                  <a:solidFill>
                    <a:schemeClr val="tx1"/>
                  </a:solidFill>
                </a:rPr>
                <a:t>terciles</a:t>
              </a:r>
              <a:r>
                <a:rPr lang="es-ES" i="1" dirty="0">
                  <a:solidFill>
                    <a:schemeClr val="tx1"/>
                  </a:solidFill>
                </a:rPr>
                <a:t> de componentes y regresión logística ajustada para predecir obesidad, ejecutado en R con paquetes especializados como </a:t>
              </a:r>
              <a:r>
                <a:rPr lang="es-ES" i="1" dirty="0" err="1">
                  <a:solidFill>
                    <a:schemeClr val="tx1"/>
                  </a:solidFill>
                </a:rPr>
                <a:t>pHeatmap</a:t>
              </a:r>
              <a:r>
                <a:rPr lang="es-ES" i="1" dirty="0">
                  <a:solidFill>
                    <a:schemeClr val="tx1"/>
                  </a:solidFill>
                </a:rPr>
                <a:t> y la librería </a:t>
              </a:r>
              <a:r>
                <a:rPr lang="es-ES" i="1" dirty="0" err="1">
                  <a:solidFill>
                    <a:schemeClr val="tx1"/>
                  </a:solidFill>
                </a:rPr>
                <a:t>dplyr</a:t>
              </a:r>
              <a:r>
                <a:rPr lang="es-ES" i="1" dirty="0">
                  <a:solidFill>
                    <a:schemeClr val="tx1"/>
                  </a:solidFill>
                </a:rPr>
                <a:t> que contiene las herramientas necesarias para </a:t>
              </a:r>
              <a:r>
                <a:rPr lang="es-ES" i="1" dirty="0" err="1">
                  <a:solidFill>
                    <a:schemeClr val="tx1"/>
                  </a:solidFill>
                </a:rPr>
                <a:t>clustering</a:t>
              </a:r>
              <a:r>
                <a:rPr lang="es-ES" i="1" dirty="0">
                  <a:solidFill>
                    <a:schemeClr val="tx1"/>
                  </a:solidFill>
                </a:rPr>
                <a:t> y PCA.</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336997"/>
            <a:ext cx="14668990" cy="93508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4" y="1198761"/>
            <a:ext cx="13763441" cy="2243926"/>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 sz="3200" b="1" dirty="0">
                <a:solidFill>
                  <a:schemeClr val="bg1"/>
                </a:solidFill>
              </a:rPr>
              <a:t>Proyecto Transversal en R (I): Análisis de bioestadística aplicada a la expresión génica en Los Simpson</a:t>
            </a:r>
            <a:endParaRPr lang="es-ES_tradnl" sz="3600" b="1" dirty="0">
              <a:solidFill>
                <a:schemeClr val="bg1"/>
              </a:solidFill>
            </a:endParaRPr>
          </a:p>
          <a:p>
            <a:pPr algn="ctr">
              <a:lnSpc>
                <a:spcPct val="80000"/>
              </a:lnSpc>
            </a:pPr>
            <a:r>
              <a:rPr lang="es-ES" sz="2400" b="1" i="1" dirty="0">
                <a:solidFill>
                  <a:schemeClr val="bg1"/>
                </a:solidFill>
              </a:rPr>
              <a:t>Estadística y R para Ciencias de la Salud</a:t>
            </a:r>
            <a:endParaRPr lang="es-ES_tradnl" sz="3200" b="1" i="1" dirty="0">
              <a:solidFill>
                <a:schemeClr val="bg1"/>
              </a:solidFill>
            </a:endParaRPr>
          </a:p>
          <a:p>
            <a:pPr algn="ctr">
              <a:lnSpc>
                <a:spcPct val="80000"/>
              </a:lnSpc>
            </a:pPr>
            <a:r>
              <a:rPr lang="es-ES_tradnl" b="1" i="1" dirty="0">
                <a:solidFill>
                  <a:schemeClr val="bg1"/>
                </a:solidFill>
              </a:rPr>
              <a:t>Paula Sánchez Álvarez, Lidia Conde Matos, Lucía Martínez Garrido, Marina </a:t>
            </a:r>
            <a:r>
              <a:rPr lang="es-ES_tradnl" b="1" i="1" dirty="0" err="1">
                <a:solidFill>
                  <a:schemeClr val="bg1"/>
                </a:solidFill>
              </a:rPr>
              <a:t>Monzo</a:t>
            </a:r>
            <a:r>
              <a:rPr lang="es-ES_tradnl" b="1" i="1" dirty="0">
                <a:solidFill>
                  <a:schemeClr val="bg1"/>
                </a:solidFill>
              </a:rPr>
              <a:t> Gallego, </a:t>
            </a:r>
            <a:r>
              <a:rPr lang="es-ES_tradnl" b="1" i="1" dirty="0" err="1">
                <a:solidFill>
                  <a:schemeClr val="bg1"/>
                </a:solidFill>
              </a:rPr>
              <a:t>Maria</a:t>
            </a:r>
            <a:r>
              <a:rPr lang="es-ES_tradnl" b="1" i="1" dirty="0">
                <a:solidFill>
                  <a:schemeClr val="bg1"/>
                </a:solidFill>
              </a:rPr>
              <a:t> Elena Martínez Garrido, Miguel Grande </a:t>
            </a:r>
            <a:r>
              <a:rPr lang="es-ES_tradnl" b="1" i="1" dirty="0" err="1">
                <a:solidFill>
                  <a:schemeClr val="bg1"/>
                </a:solidFill>
              </a:rPr>
              <a:t>Falceto</a:t>
            </a:r>
            <a:r>
              <a:rPr lang="es-ES_tradnl" b="1" i="1" dirty="0">
                <a:solidFill>
                  <a:schemeClr val="bg1"/>
                </a:solidFill>
              </a:rPr>
              <a:t>, Nuria Fernández Pérez</a:t>
            </a: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25180" y="16885602"/>
            <a:ext cx="9095801" cy="4262829"/>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La arquitectura genética de la muestra es altamente compleja y no depende de un solo gen, sino de redes biológicas coordinadas, principalmente el Eje </a:t>
              </a:r>
              <a:r>
                <a:rPr lang="es-ES" i="1" dirty="0" err="1">
                  <a:solidFill>
                    <a:schemeClr val="tx1"/>
                  </a:solidFill>
                </a:rPr>
                <a:t>Leptina-Melanocortina</a:t>
              </a:r>
              <a:r>
                <a:rPr lang="es-ES" i="1" dirty="0">
                  <a:solidFill>
                    <a:schemeClr val="tx1"/>
                  </a:solidFill>
                </a:rPr>
                <a:t> (PC1) y la Plasticidad Neuronal (PC2). A través del PCA y el </a:t>
              </a:r>
              <a:r>
                <a:rPr lang="es-ES" i="1" dirty="0" err="1">
                  <a:solidFill>
                    <a:schemeClr val="tx1"/>
                  </a:solidFill>
                </a:rPr>
                <a:t>clustering</a:t>
              </a:r>
              <a:r>
                <a:rPr lang="es-ES" i="1" dirty="0">
                  <a:solidFill>
                    <a:schemeClr val="tx1"/>
                  </a:solidFill>
                </a:rPr>
                <a:t>, se identificaron genes críticos como POMC, ADCY3, LEPR y NTRK2 como los principales impulsores de la variabilidad biológica. Mientras que el PC1 actúa como un marcador de riesgo donde los individuos con obesidad presentan valores extremos, el PC2 vincula la conectividad neuronal con el IMC. El mapa de calor y el análisis por </a:t>
              </a:r>
              <a:r>
                <a:rPr lang="es-ES" i="1" dirty="0" err="1">
                  <a:solidFill>
                    <a:schemeClr val="tx1"/>
                  </a:solidFill>
                </a:rPr>
                <a:t>terciles</a:t>
              </a:r>
              <a:r>
                <a:rPr lang="es-ES" i="1" dirty="0">
                  <a:solidFill>
                    <a:schemeClr val="tx1"/>
                  </a:solidFill>
                </a:rPr>
                <a:t> confirman que estas agrupaciones no son aleatorias, sino que responden a patrones de expresión significativamente distintos. No obstante, la regresión logística no halló una asociación significativa con la obesidad clínica. Esta discrepancia sugiere que, aunque existen perfiles genéticos diferenciados y vinculados al eje neuroendocrino, el tamaño </a:t>
              </a:r>
              <a:r>
                <a:rPr lang="es-ES" i="1" dirty="0" err="1">
                  <a:solidFill>
                    <a:schemeClr val="tx1"/>
                  </a:solidFill>
                </a:rPr>
                <a:t>muestral</a:t>
              </a:r>
              <a:r>
                <a:rPr lang="es-ES" i="1" dirty="0">
                  <a:solidFill>
                    <a:schemeClr val="tx1"/>
                  </a:solidFill>
                </a:rPr>
                <a:t> limitado y la baja prevalencia de casos impiden una predicción robusta, subrayando la necesidad de ampliar el estudio para validar estos </a:t>
              </a:r>
              <a:r>
                <a:rPr lang="es-ES" i="1" dirty="0" err="1">
                  <a:solidFill>
                    <a:schemeClr val="tx1"/>
                  </a:solidFill>
                </a:rPr>
                <a:t>biomarcadores</a:t>
              </a:r>
              <a:r>
                <a:rPr lang="es-ES" i="1" dirty="0">
                  <a:solidFill>
                    <a:schemeClr val="tx1"/>
                  </a:solidFill>
                </a:rPr>
                <a:t>.</a:t>
              </a:r>
              <a:endParaRPr lang="es-ES_tradnl" sz="2400" i="1" dirty="0">
                <a:solidFill>
                  <a:schemeClr val="tx1"/>
                </a:solidFill>
              </a:endParaRP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6990349"/>
            <a:ext cx="5366712" cy="4158081"/>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marL="342900" indent="-342900" algn="just">
                <a:lnSpc>
                  <a:spcPct val="80000"/>
                </a:lnSpc>
                <a:buFont typeface="Arial" panose="020B0604020202020204" pitchFamily="34" charset="0"/>
                <a:buChar char="•"/>
              </a:pPr>
              <a:r>
                <a:rPr lang="es-ES" i="1" dirty="0">
                  <a:solidFill>
                    <a:schemeClr val="tx1"/>
                  </a:solidFill>
                </a:rPr>
                <a:t>La variabilidad biológica de la muestra está dirigida por redes genéticas coordinadas, destacando el Eje Leptina-Melanocortina (PC1) y la Plasticidad Neuronal (PC2)</a:t>
              </a:r>
            </a:p>
            <a:p>
              <a:pPr marL="342900" indent="-342900" algn="just">
                <a:lnSpc>
                  <a:spcPct val="80000"/>
                </a:lnSpc>
                <a:buFont typeface="Arial" panose="020B0604020202020204" pitchFamily="34" charset="0"/>
                <a:buChar char="•"/>
              </a:pPr>
              <a:r>
                <a:rPr lang="es-ES" i="1" dirty="0">
                  <a:solidFill>
                    <a:schemeClr val="tx1"/>
                  </a:solidFill>
                </a:rPr>
                <a:t>Se identificaron genes críticos como POMC, ADCY3, LEPR y NTRK2 como los principales biomarcadores de riesgo asociados a valores extremos de IMC.</a:t>
              </a:r>
            </a:p>
            <a:p>
              <a:pPr marL="342900" indent="-342900" algn="just">
                <a:lnSpc>
                  <a:spcPct val="80000"/>
                </a:lnSpc>
                <a:buFont typeface="Arial" panose="020B0604020202020204" pitchFamily="34" charset="0"/>
                <a:buChar char="•"/>
              </a:pPr>
              <a:r>
                <a:rPr lang="es-ES" i="1" dirty="0">
                  <a:solidFill>
                    <a:schemeClr val="tx1"/>
                  </a:solidFill>
                </a:rPr>
                <a:t>Aunque existen perfiles neuroendocrinos diferenciados, la falta de significación en la regresión logística sugiere la necesidad de ampliar el tamaño muestral para validar estos hallazgos en la predicción de la obesidad clínica.</a:t>
              </a:r>
            </a:p>
            <a:p>
              <a:pPr marL="342900" indent="-342900" algn="just">
                <a:lnSpc>
                  <a:spcPct val="80000"/>
                </a:lnSpc>
                <a:buFont typeface="Arial" panose="020B0604020202020204" pitchFamily="34" charset="0"/>
                <a:buChar char="•"/>
              </a:pPr>
              <a:endParaRPr lang="es-ES_tradnl"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39" name="Rectángulo redondeado 38">
            <a:extLst>
              <a:ext uri="{FF2B5EF4-FFF2-40B4-BE49-F238E27FC236}">
                <a16:creationId xmlns:a16="http://schemas.microsoft.com/office/drawing/2014/main" id="{05ACB882-C17A-7163-5754-50C1DB29AA22}"/>
              </a:ext>
            </a:extLst>
          </p:cNvPr>
          <p:cNvSpPr/>
          <p:nvPr/>
        </p:nvSpPr>
        <p:spPr>
          <a:xfrm>
            <a:off x="500673" y="8127402"/>
            <a:ext cx="705900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Distribución de individuos en las dos primeras componentes principales (PCA) coloreados por categoría de IMC.</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Rectángulo redondeado 39">
            <a:extLst>
              <a:ext uri="{FF2B5EF4-FFF2-40B4-BE49-F238E27FC236}">
                <a16:creationId xmlns:a16="http://schemas.microsoft.com/office/drawing/2014/main" id="{3F03464F-6AD8-145A-F4F0-58880920BB73}"/>
              </a:ext>
            </a:extLst>
          </p:cNvPr>
          <p:cNvSpPr/>
          <p:nvPr/>
        </p:nvSpPr>
        <p:spPr>
          <a:xfrm>
            <a:off x="500673" y="12467799"/>
            <a:ext cx="705900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Clustering</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de las variables génicas basada en sus coordenadas en el análisis de componentes principales.</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7688629" y="8127402"/>
            <a:ext cx="705900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Heatmap</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de las correlaciones de Spearman entre las variables génicas y las componentes principales.</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0" name="Imagen 9">
            <a:extLst>
              <a:ext uri="{FF2B5EF4-FFF2-40B4-BE49-F238E27FC236}">
                <a16:creationId xmlns:a16="http://schemas.microsoft.com/office/drawing/2014/main" id="{8A183F86-D7DD-502A-D747-5A5FBDC1239E}"/>
              </a:ext>
            </a:extLst>
          </p:cNvPr>
          <p:cNvPicPr>
            <a:picLocks noChangeAspect="1"/>
          </p:cNvPicPr>
          <p:nvPr/>
        </p:nvPicPr>
        <p:blipFill>
          <a:blip r:embed="rId4"/>
          <a:stretch>
            <a:fillRect/>
          </a:stretch>
        </p:blipFill>
        <p:spPr>
          <a:xfrm>
            <a:off x="1819085" y="8871758"/>
            <a:ext cx="3970783" cy="3403528"/>
          </a:xfrm>
          <a:prstGeom prst="rect">
            <a:avLst/>
          </a:prstGeom>
        </p:spPr>
      </p:pic>
      <p:pic>
        <p:nvPicPr>
          <p:cNvPr id="11" name="Imagen 10">
            <a:extLst>
              <a:ext uri="{FF2B5EF4-FFF2-40B4-BE49-F238E27FC236}">
                <a16:creationId xmlns:a16="http://schemas.microsoft.com/office/drawing/2014/main" id="{8A8E1970-B66C-7036-7EB4-94101F925FF7}"/>
              </a:ext>
            </a:extLst>
          </p:cNvPr>
          <p:cNvPicPr>
            <a:picLocks noChangeAspect="1"/>
          </p:cNvPicPr>
          <p:nvPr/>
        </p:nvPicPr>
        <p:blipFill>
          <a:blip r:embed="rId5"/>
          <a:stretch>
            <a:fillRect/>
          </a:stretch>
        </p:blipFill>
        <p:spPr>
          <a:xfrm>
            <a:off x="8884889" y="9247101"/>
            <a:ext cx="5291234" cy="5879149"/>
          </a:xfrm>
          <a:prstGeom prst="rect">
            <a:avLst/>
          </a:prstGeom>
        </p:spPr>
      </p:pic>
      <p:pic>
        <p:nvPicPr>
          <p:cNvPr id="12" name="Imagen 11">
            <a:extLst>
              <a:ext uri="{FF2B5EF4-FFF2-40B4-BE49-F238E27FC236}">
                <a16:creationId xmlns:a16="http://schemas.microsoft.com/office/drawing/2014/main" id="{F63E81AC-6E62-3552-B12E-B7CFBD3B9621}"/>
              </a:ext>
            </a:extLst>
          </p:cNvPr>
          <p:cNvPicPr>
            <a:picLocks noChangeAspect="1"/>
          </p:cNvPicPr>
          <p:nvPr/>
        </p:nvPicPr>
        <p:blipFill>
          <a:blip r:embed="rId6"/>
          <a:stretch>
            <a:fillRect/>
          </a:stretch>
        </p:blipFill>
        <p:spPr>
          <a:xfrm>
            <a:off x="1971316" y="13183981"/>
            <a:ext cx="3970783" cy="3403528"/>
          </a:xfrm>
          <a:prstGeom prst="rect">
            <a:avLst/>
          </a:prstGeom>
        </p:spPr>
      </p:pic>
    </p:spTree>
    <p:extLst>
      <p:ext uri="{BB962C8B-B14F-4D97-AF65-F5344CB8AC3E}">
        <p14:creationId xmlns:p14="http://schemas.microsoft.com/office/powerpoint/2010/main" val="4045999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CFC6D78-4336-6694-80D8-E4D16D1898C8}"/>
              </a:ext>
            </a:extLst>
          </p:cNvPr>
          <p:cNvPicPr>
            <a:picLocks noChangeAspect="1"/>
          </p:cNvPicPr>
          <p:nvPr/>
        </p:nvPicPr>
        <p:blipFill>
          <a:blip r:embed="rId2"/>
          <a:stretch>
            <a:fillRect/>
          </a:stretch>
        </p:blipFill>
        <p:spPr>
          <a:xfrm>
            <a:off x="519632" y="4000859"/>
            <a:ext cx="6400800" cy="5486400"/>
          </a:xfrm>
          <a:prstGeom prst="rect">
            <a:avLst/>
          </a:prstGeom>
        </p:spPr>
      </p:pic>
      <p:pic>
        <p:nvPicPr>
          <p:cNvPr id="6" name="Imagen 5">
            <a:extLst>
              <a:ext uri="{FF2B5EF4-FFF2-40B4-BE49-F238E27FC236}">
                <a16:creationId xmlns:a16="http://schemas.microsoft.com/office/drawing/2014/main" id="{A49C31BE-A109-546F-614D-2A663828D2C4}"/>
              </a:ext>
            </a:extLst>
          </p:cNvPr>
          <p:cNvPicPr>
            <a:picLocks noChangeAspect="1"/>
          </p:cNvPicPr>
          <p:nvPr/>
        </p:nvPicPr>
        <p:blipFill>
          <a:blip r:embed="rId3"/>
          <a:stretch>
            <a:fillRect/>
          </a:stretch>
        </p:blipFill>
        <p:spPr>
          <a:xfrm>
            <a:off x="7559675" y="3857875"/>
            <a:ext cx="6400800" cy="5486400"/>
          </a:xfrm>
          <a:prstGeom prst="rect">
            <a:avLst/>
          </a:prstGeom>
        </p:spPr>
      </p:pic>
      <p:pic>
        <p:nvPicPr>
          <p:cNvPr id="7" name="Imagen 6">
            <a:extLst>
              <a:ext uri="{FF2B5EF4-FFF2-40B4-BE49-F238E27FC236}">
                <a16:creationId xmlns:a16="http://schemas.microsoft.com/office/drawing/2014/main" id="{E9F0C673-0ED0-39C2-3E67-226314319BAF}"/>
              </a:ext>
            </a:extLst>
          </p:cNvPr>
          <p:cNvPicPr>
            <a:picLocks noChangeAspect="1"/>
          </p:cNvPicPr>
          <p:nvPr/>
        </p:nvPicPr>
        <p:blipFill>
          <a:blip r:embed="rId4"/>
          <a:stretch>
            <a:fillRect/>
          </a:stretch>
        </p:blipFill>
        <p:spPr>
          <a:xfrm>
            <a:off x="519632" y="9921791"/>
            <a:ext cx="6400800" cy="5486400"/>
          </a:xfrm>
          <a:prstGeom prst="rect">
            <a:avLst/>
          </a:prstGeom>
        </p:spPr>
      </p:pic>
      <p:pic>
        <p:nvPicPr>
          <p:cNvPr id="8" name="Imagen 7">
            <a:extLst>
              <a:ext uri="{FF2B5EF4-FFF2-40B4-BE49-F238E27FC236}">
                <a16:creationId xmlns:a16="http://schemas.microsoft.com/office/drawing/2014/main" id="{8C19C126-68B2-C4D8-72A4-5D649CDE29C2}"/>
              </a:ext>
            </a:extLst>
          </p:cNvPr>
          <p:cNvPicPr>
            <a:picLocks noChangeAspect="1"/>
          </p:cNvPicPr>
          <p:nvPr/>
        </p:nvPicPr>
        <p:blipFill>
          <a:blip r:embed="rId5"/>
          <a:stretch>
            <a:fillRect/>
          </a:stretch>
        </p:blipFill>
        <p:spPr>
          <a:xfrm>
            <a:off x="7696032" y="9600948"/>
            <a:ext cx="6400800" cy="5486400"/>
          </a:xfrm>
          <a:prstGeom prst="rect">
            <a:avLst/>
          </a:prstGeom>
        </p:spPr>
      </p:pic>
      <p:pic>
        <p:nvPicPr>
          <p:cNvPr id="9" name="Imagen 8">
            <a:extLst>
              <a:ext uri="{FF2B5EF4-FFF2-40B4-BE49-F238E27FC236}">
                <a16:creationId xmlns:a16="http://schemas.microsoft.com/office/drawing/2014/main" id="{1CB39942-B5D9-5E96-BAD1-ED75E98C5E85}"/>
              </a:ext>
            </a:extLst>
          </p:cNvPr>
          <p:cNvPicPr>
            <a:picLocks noChangeAspect="1"/>
          </p:cNvPicPr>
          <p:nvPr/>
        </p:nvPicPr>
        <p:blipFill>
          <a:blip r:embed="rId6"/>
          <a:stretch>
            <a:fillRect/>
          </a:stretch>
        </p:blipFill>
        <p:spPr>
          <a:xfrm>
            <a:off x="499411" y="15408191"/>
            <a:ext cx="6400800" cy="5486400"/>
          </a:xfrm>
          <a:prstGeom prst="rect">
            <a:avLst/>
          </a:prstGeom>
        </p:spPr>
      </p:pic>
    </p:spTree>
    <p:extLst>
      <p:ext uri="{BB962C8B-B14F-4D97-AF65-F5344CB8AC3E}">
        <p14:creationId xmlns:p14="http://schemas.microsoft.com/office/powerpoint/2010/main" val="1137563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4177D0B-7FAF-B0E1-A6AE-38A30851ABEF}"/>
              </a:ext>
            </a:extLst>
          </p:cNvPr>
          <p:cNvPicPr>
            <a:picLocks noChangeAspect="1"/>
          </p:cNvPicPr>
          <p:nvPr/>
        </p:nvPicPr>
        <p:blipFill>
          <a:blip r:embed="rId2"/>
          <a:stretch>
            <a:fillRect/>
          </a:stretch>
        </p:blipFill>
        <p:spPr>
          <a:xfrm>
            <a:off x="716011" y="521118"/>
            <a:ext cx="8229600" cy="9144000"/>
          </a:xfrm>
          <a:prstGeom prst="rect">
            <a:avLst/>
          </a:prstGeom>
        </p:spPr>
      </p:pic>
      <p:pic>
        <p:nvPicPr>
          <p:cNvPr id="5" name="Imagen 4">
            <a:extLst>
              <a:ext uri="{FF2B5EF4-FFF2-40B4-BE49-F238E27FC236}">
                <a16:creationId xmlns:a16="http://schemas.microsoft.com/office/drawing/2014/main" id="{DDEF7FBA-C52E-7C9A-B15E-84E0D7439927}"/>
              </a:ext>
            </a:extLst>
          </p:cNvPr>
          <p:cNvPicPr>
            <a:picLocks noChangeAspect="1"/>
          </p:cNvPicPr>
          <p:nvPr/>
        </p:nvPicPr>
        <p:blipFill>
          <a:blip r:embed="rId3"/>
          <a:stretch>
            <a:fillRect/>
          </a:stretch>
        </p:blipFill>
        <p:spPr>
          <a:xfrm>
            <a:off x="6485024" y="9665118"/>
            <a:ext cx="8229600" cy="9144000"/>
          </a:xfrm>
          <a:prstGeom prst="rect">
            <a:avLst/>
          </a:prstGeom>
        </p:spPr>
      </p:pic>
    </p:spTree>
    <p:extLst>
      <p:ext uri="{BB962C8B-B14F-4D97-AF65-F5344CB8AC3E}">
        <p14:creationId xmlns:p14="http://schemas.microsoft.com/office/powerpoint/2010/main" val="343628506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Props1.xml><?xml version="1.0" encoding="utf-8"?>
<ds:datastoreItem xmlns:ds="http://schemas.openxmlformats.org/officeDocument/2006/customXml" ds:itemID="{8FA9EA36-75B9-47E0-B3F6-D548E75A2A5A}">
  <ds:schemaRefs>
    <ds:schemaRef ds:uri="http://schemas.microsoft.com/sharepoint/v3/contenttype/forms"/>
  </ds:schemaRefs>
</ds:datastoreItem>
</file>

<file path=customXml/itemProps2.xml><?xml version="1.0" encoding="utf-8"?>
<ds:datastoreItem xmlns:ds="http://schemas.openxmlformats.org/officeDocument/2006/customXml" ds:itemID="{F0E4AC05-6E48-496A-9B4A-D9E0A4517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CFF8D81-72FC-452A-A72A-98522D59D5C9}">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171</TotalTime>
  <Words>525</Words>
  <Application>Microsoft Office PowerPoint</Application>
  <PresentationFormat>Custom</PresentationFormat>
  <Paragraphs>17</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Tema de Office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Victor  de la O Pascual</dc:creator>
  <cp:lastModifiedBy>lucia martinez  garrido</cp:lastModifiedBy>
  <cp:revision>23</cp:revision>
  <dcterms:created xsi:type="dcterms:W3CDTF">2025-04-21T10:03:24Z</dcterms:created>
  <dcterms:modified xsi:type="dcterms:W3CDTF">2026-01-25T14:41:45Z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